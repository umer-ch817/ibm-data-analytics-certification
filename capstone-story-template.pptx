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tiff" ContentType="image/tif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0" r:id="rId6"/>
    <p:sldId id="261" r:id="rId7"/>
    <p:sldId id="262" r:id="rId8"/>
    <p:sldId id="263" r:id="rId9"/>
    <p:sldId id="258" r:id="rId10"/>
    <p:sldId id="264" r:id="rId11"/>
    <p:sldId id="278" r:id="rId12"/>
    <p:sldId id="279" r:id="rId13"/>
    <p:sldId id="281" r:id="rId14"/>
    <p:sldId id="280" r:id="rId15"/>
    <p:sldId id="267" r:id="rId16"/>
    <p:sldId id="268" r:id="rId17"/>
    <p:sldId id="269" r:id="rId18"/>
    <p:sldId id="270" r:id="rId19"/>
    <p:sldId id="272" r:id="rId20"/>
    <p:sldId id="273" r:id="rId21"/>
    <p:sldId id="282" r:id="rId22"/>
    <p:sldId id="274" r:id="rId23"/>
    <p:sldId id="275" r:id="rId24"/>
    <p:sldId id="283" r:id="rId25"/>
    <p:sldId id="284" r:id="rId26"/>
    <p:sldId id="285" r:id="rId27"/>
    <p:sldId id="286" r:id="rId28"/>
    <p:sldId id="276" r:id="rId29"/>
    <p:sldId id="277" r:id="rId30"/>
  </p:sldIdLst>
  <p:sldSz cx="12192000" cy="6858000"/>
  <p:notesSz cx="6858000" cy="18573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cmAuthor id="3" name="Ramesh Sannareddy" initials="RS" lastIdx="7"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65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67" autoAdjust="0"/>
    <p:restoredTop sz="74189" autoAdjust="0"/>
  </p:normalViewPr>
  <p:slideViewPr>
    <p:cSldViewPr snapToGrid="0" snapToObjects="1">
      <p:cViewPr>
        <p:scale>
          <a:sx n="100" d="100"/>
          <a:sy n="100" d="100"/>
        </p:scale>
        <p:origin x="2358" y="63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customXml" Target="../customXml/item3.xml"/><Relationship Id="rId36" Type="http://schemas.openxmlformats.org/officeDocument/2006/relationships/customXml" Target="../customXml/item2.xml"/><Relationship Id="rId35" Type="http://schemas.openxmlformats.org/officeDocument/2006/relationships/customXml" Target="../customXml/item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1.000,'4.000'0.000,"1.000"0.000</inkml:trace>
</inkml:ink>
</file>

<file path=ppt/ink/ink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1:5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28"/>
    </inkml:context>
    <inkml:brush xml:id="br0">
      <inkml:brushProperty name="width" value="0.3" units="cm"/>
      <inkml:brushProperty name="height" value="0.6" units="cm"/>
      <inkml:brushProperty name="color" value="#ffffff"/>
      <inkml:brushProperty name="tip" value="rectangle"/>
      <inkml:brushProperty name="rasterOp" value="maskPen"/>
    </inkml:brush>
  </inkml:definitions>
  <inkml:trace contextRef="#ctx0" brushRef="#br0">3862.000 105.000,'-1271.000'0.000,"1156.000"-5.000,-24.000-7.000,-86.000-4.000,-555.000 14.000,398.000 3.000,346.000-3.000,0.000-2.000,1.000-1.000,-1.000-2.000,-10.000-4.000,-70.000-13.000,-19.000 12.000,0.000 6.000,-61.000 8.000,66.000 0.000,86.000 2.000,44.000-4.000,0.000 0.000,0.000 0.000,0.000 0.000,-1.000 0.000,1.000 0.000,0.000 0.000,0.000 0.000,0.000 1.000,0.000-1.000,-1.000 0.000,1.000 0.000,0.000 0.000,0.000 0.000,0.000 0.000,0.000 0.000,-1.000 0.000,1.000 0.000,0.000 0.000,0.000 1.000,0.000-1.000,0.000 0.000,0.000 0.000,0.000 0.000,0.000 0.000,-1.000 0.000,1.000 1.000,0.000-1.000,0.000 0.000,0.000 0.000,0.000 0.000,0.000 0.000,0.000 1.000,0.000-1.000,0.000 0.000,0.000 0.000,0.000 0.000,0.000 1.000,0.000-1.000,0.000 0.000,0.000 0.000,0.000 0.000,0.000 0.000,0.000 1.000,0.000-1.000,0.000 0.000,0.000 0.000,0.000 0.000,0.000 0.000,1.000 1.000,-1.000-1.000,0.000 0.000,20.000 10.000,43.000 10.000,61.000 11.000,-29.000-8.000,63.000 10.000,2.000-7.000,83.000 0.000,-79.000-10.000,0.000 7.000,60.000 20.000,-165.000-29.000,0.000-2.000,1.000-3.000,1.000-3.000,53.000-2.000,1709.000-7.000,-1834.000 2.000,-1.000-1.000,1.000 0.000,0.000 0.000,0.000-1.000,0.000-1.000,-36.000-8.000,-207.000-29.000,-83.000 4.000,242.000 22.000,66.000 9.000,0.000 1.000,-1.000 2.000,-2.000 1.000,-72.000 2.000,54.000 2.000,0.000-3.000,-42.000-6.000,52.000 0.000</inkml:trace>
</inkml:ink>
</file>

<file path=ppt/ink/ink1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30"/>
    </inkml:context>
    <inkml:brush xml:id="br0">
      <inkml:brushProperty name="width" value="0.3" units="cm"/>
      <inkml:brushProperty name="height" value="0.6" units="cm"/>
      <inkml:brushProperty name="color" value="#ffffff"/>
      <inkml:brushProperty name="tip" value="rectangle"/>
      <inkml:brushProperty name="rasterOp" value="maskPen"/>
    </inkml:brush>
  </inkml:definitions>
  <inkml:trace contextRef="#ctx0" brushRef="#br0">0.000 0.000,'0.000'0.000</inkml:trace>
</inkml:ink>
</file>

<file path=ppt/ink/ink1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30"/>
    </inkml:context>
    <inkml:brush xml:id="br0">
      <inkml:brushProperty name="width" value="0.3" units="cm"/>
      <inkml:brushProperty name="height" value="0.6" units="cm"/>
      <inkml:brushProperty name="color" value="#ffffff"/>
      <inkml:brushProperty name="tip" value="rectangle"/>
      <inkml:brushProperty name="rasterOp" value="maskPen"/>
    </inkml:brush>
  </inkml:definitions>
  <inkml:trace contextRef="#ctx0" brushRef="#br0">0.000 1.000,'0.000'0.000</inkml:trace>
</inkml:ink>
</file>

<file path=ppt/ink/ink1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31"/>
    </inkml:context>
    <inkml:brush xml:id="br0">
      <inkml:brushProperty name="width" value="0.3" units="cm"/>
      <inkml:brushProperty name="height" value="0.6" units="cm"/>
      <inkml:brushProperty name="color" value="#ffffff"/>
      <inkml:brushProperty name="tip" value="rectangle"/>
      <inkml:brushProperty name="rasterOp" value="maskPen"/>
    </inkml:brush>
  </inkml:definitions>
  <inkml:trace contextRef="#ctx0" brushRef="#br0">0.000 1.000,'0.000'0.000</inkml:trace>
</inkml:ink>
</file>

<file path=ppt/ink/ink1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31"/>
    </inkml:context>
    <inkml:brush xml:id="br0">
      <inkml:brushProperty name="width" value="0.3" units="cm"/>
      <inkml:brushProperty name="height" value="0.6" units="cm"/>
      <inkml:brushProperty name="color" value="#ffffff"/>
      <inkml:brushProperty name="tip" value="rectangle"/>
      <inkml:brushProperty name="rasterOp" value="maskPen"/>
    </inkml:brush>
  </inkml:definitions>
  <inkml:trace contextRef="#ctx0" brushRef="#br0">0.000 1.000,'0.000'0.000</inkml:trace>
</inkml:ink>
</file>

<file path=ppt/ink/ink1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0:5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14.000,'0.000'-6.000,"0.000"-2.000</inkml:trace>
</inkml:ink>
</file>

<file path=ppt/ink/ink1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0.000,'0.000'0.000</inkml:trace>
</inkml:ink>
</file>

<file path=ppt/ink/ink1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0.000,'0.000'0.000</inkml:trace>
</inkml:ink>
</file>

<file path=ppt/ink/ink1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14.000 0.000,'-6.000'0.000,"-1.000"0.000</inkml:trace>
</inkml:ink>
</file>

<file path=ppt/ink/ink1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0.000,'0.000'0.000</inkml:trace>
</inkml:ink>
</file>

<file path=ppt/ink/ink1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1.000,'0.000'0.000</inkml:trace>
</inkml:ink>
</file>

<file path=ppt/ink/ink2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2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39"/>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2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40"/>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2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1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2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3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0.000,'0.000'0.000</inkml:trace>
</inkml:ink>
</file>

<file path=ppt/ink/ink2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3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2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37"/>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0.000,'5.000'0.000,"3.000"0.000</inkml:trace>
</inkml:ink>
</file>

<file path=ppt/ink/ink2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3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2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5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74.000 0.000,'0.000'6.000,"0.000"7.000,-6.000 2.000,-7.000-2.000,-14.000-3.000,-1.000-3.000</inkml:trace>
</inkml:ink>
</file>

<file path=ppt/ink/ink2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4:38"/>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0.000,'5.000'0.000,"3.000"0.000</inkml:trace>
</inkml:ink>
</file>

<file path=ppt/ink/ink3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37:51"/>
    </inkml:context>
    <inkml:brush xml:id="br0">
      <inkml:brushProperty name="width" value="0.05" units="cm"/>
      <inkml:brushProperty name="height" value="0.05" units="cm"/>
      <inkml:brushProperty name="color" value="#000000"/>
    </inkml:brush>
  </inkml:definitions>
  <inkml:trace contextRef="#ctx0" brushRef="#br0">0.000 0.000,'0.000'0.000</inkml:trace>
</inkml:ink>
</file>

<file path=ppt/ink/ink3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44"/>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32.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33.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45"/>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0.000,'0.000'0.000</inkml:trace>
</inkml:ink>
</file>

<file path=ppt/ink/ink34.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46"/>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0.000,'6.000'0.000,"-4.000"6.000,-2.000 2.000</inkml:trace>
</inkml:ink>
</file>

<file path=ppt/ink/ink35.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2:5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0.000,'11.000'0.000,"10.000"0.000,1.000 0.000</inkml:trace>
</inkml:ink>
</file>

<file path=ppt/ink/ink36.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0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37.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01"/>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38.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0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39.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02"/>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0.000 1.000,'0.000'0.000</inkml:trace>
</inkml:ink>
</file>

<file path=ppt/ink/ink40.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0-10-28T23:03:03"/>
    </inkml:context>
    <inkml:brush xml:id="br0">
      <inkml:brushProperty name="width" value="0.5" units="cm"/>
      <inkml:brushProperty name="height" value="1" units="cm"/>
      <inkml:brushProperty name="color" value="#ffffff"/>
      <inkml:brushProperty name="tip" value="rectangle"/>
      <inkml:brushProperty name="rasterOp" value="maskPen"/>
    </inkml:brush>
  </inkml:definitions>
  <inkml:trace contextRef="#ctx0" brushRef="#br0">1.000 0.000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BDA0E2-FEBD-4B65-8F16-724CF984F37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customXml" Target="../ink/ink6.xml"/><Relationship Id="rId8" Type="http://schemas.openxmlformats.org/officeDocument/2006/relationships/customXml" Target="../ink/ink5.xml"/><Relationship Id="rId7" Type="http://schemas.openxmlformats.org/officeDocument/2006/relationships/customXml" Target="../ink/ink4.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 Id="rId3" Type="http://schemas.openxmlformats.org/officeDocument/2006/relationships/image" Target="../media/image1.png"/><Relationship Id="rId2" Type="http://schemas.openxmlformats.org/officeDocument/2006/relationships/customXml" Target="../ink/ink1.xml"/><Relationship Id="rId11" Type="http://schemas.openxmlformats.org/officeDocument/2006/relationships/customXml" Target="../ink/ink8.xml"/><Relationship Id="rId10" Type="http://schemas.openxmlformats.org/officeDocument/2006/relationships/customXml" Target="../ink/ink7.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1168401"/>
            <a:ext cx="643128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t>Click to edit Master title style</a:t>
            </a:r>
            <a:endParaRPr lang="en-US" dirty="0"/>
          </a:p>
        </p:txBody>
      </p:sp>
      <p:sp>
        <p:nvSpPr>
          <p:cNvPr id="3" name="Subtitle 2"/>
          <p:cNvSpPr>
            <a:spLocks noGrp="1"/>
          </p:cNvSpPr>
          <p:nvPr>
            <p:ph type="subTitle" idx="1"/>
          </p:nvPr>
        </p:nvSpPr>
        <p:spPr>
          <a:xfrm>
            <a:off x="2880360" y="3731247"/>
            <a:ext cx="6431280" cy="1655762"/>
          </a:xfrm>
        </p:spPr>
        <p:txBody>
          <a:bodyPr/>
          <a:lstStyle>
            <a:lvl1pPr marL="0" indent="0" algn="ctr">
              <a:buNone/>
              <a:defRPr sz="2400" b="1">
                <a:solidFill>
                  <a:srgbClr val="00B0F0"/>
                </a:solidFill>
                <a:latin typeface="IBM Plex Mono Text" panose="020B0509050203000203" pitchFamily="49"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dirty="0">
                <a:latin typeface="Helv"/>
              </a:rPr>
              <a:t>© IBM Corporation. All rights reserved.</a:t>
            </a:r>
            <a:endParaRPr lang="en-US" sz="1400" b="0" dirty="0">
              <a:latin typeface="Helv"/>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a:xfrm>
            <a:off x="838200" y="1690688"/>
            <a:ext cx="10515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cxnSp>
        <p:nvCxnSpPr>
          <p:cNvPr id="7" name="Straight Connector 6"/>
          <p:cNvCxnSpPr/>
          <p:nvPr/>
        </p:nvCxnSpPr>
        <p:spPr>
          <a:xfrm>
            <a:off x="838200" y="1296645"/>
            <a:ext cx="10515600" cy="36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cxnSp>
        <p:nvCxnSpPr>
          <p:cNvPr id="8" name="Straight Connector 7"/>
          <p:cNvCxnSpPr/>
          <p:nvPr/>
        </p:nvCxnSpPr>
        <p:spPr>
          <a:xfrm>
            <a:off x="838200" y="1364249"/>
            <a:ext cx="10515600" cy="368"/>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r:id="rId2" p14:bwMode="auto">
            <p14:nvContentPartPr>
              <p14:cNvPr id="5" name="Ink 4"/>
              <p14:cNvContentPartPr/>
              <p14:nvPr/>
            </p14:nvContentPartPr>
            <p14:xfrm>
              <a:off x="1837276" y="6444633"/>
              <a:ext cx="3960" cy="360"/>
            </p14:xfrm>
          </p:contentPart>
        </mc:Choice>
        <mc:Fallback xmlns="">
          <p:pic>
            <p:nvPicPr>
              <p:cNvPr id="5" name="Ink 4"/>
            </p:nvPicPr>
            <p:blipFill>
              <a:blip r:embed="rId3"/>
            </p:blipFill>
            <p:spPr>
              <a:xfrm>
                <a:off x="1837276" y="6444633"/>
                <a:ext cx="39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6" name="Ink 5"/>
              <p14:cNvContentPartPr/>
              <p14:nvPr/>
            </p14:nvContentPartPr>
            <p14:xfrm>
              <a:off x="1846276" y="6435993"/>
              <a:ext cx="360" cy="360"/>
            </p14:xfrm>
          </p:contentPart>
        </mc:Choice>
        <mc:Fallback xmlns="">
          <p:pic>
            <p:nvPicPr>
              <p:cNvPr id="6" name="Ink 5"/>
            </p:nvPicPr>
            <p:blipFill>
              <a:blip r:embed="rId5"/>
            </p:blipFill>
            <p:spPr>
              <a:xfrm>
                <a:off x="1846276" y="6435993"/>
                <a:ext cx="36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7" name="Ink 6"/>
              <p14:cNvContentPartPr/>
              <p14:nvPr/>
            </p14:nvContentPartPr>
            <p14:xfrm>
              <a:off x="1846276" y="6462633"/>
              <a:ext cx="360" cy="360"/>
            </p14:xfrm>
          </p:contentPart>
        </mc:Choice>
        <mc:Fallback xmlns="">
          <p:pic>
            <p:nvPicPr>
              <p:cNvPr id="7" name="Ink 6"/>
            </p:nvPicPr>
            <p:blipFill>
              <a:blip r:embed="rId5"/>
            </p:blipFill>
            <p:spPr>
              <a:xfrm>
                <a:off x="1846276" y="6462633"/>
                <a:ext cx="360"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Ink 8"/>
              <p14:cNvContentPartPr/>
              <p14:nvPr/>
            </p14:nvContentPartPr>
            <p14:xfrm>
              <a:off x="1846276" y="6462633"/>
              <a:ext cx="360" cy="360"/>
            </p14:xfrm>
          </p:contentPart>
        </mc:Choice>
        <mc:Fallback xmlns="">
          <p:pic>
            <p:nvPicPr>
              <p:cNvPr id="9" name="Ink 8"/>
            </p:nvPicPr>
            <p:blipFill>
              <a:blip r:embed="rId5"/>
            </p:blipFill>
            <p:spPr>
              <a:xfrm>
                <a:off x="1846276" y="6462633"/>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 name="Ink 9"/>
              <p14:cNvContentPartPr/>
              <p14:nvPr/>
            </p14:nvContentPartPr>
            <p14:xfrm>
              <a:off x="1846276" y="6462633"/>
              <a:ext cx="360" cy="360"/>
            </p14:xfrm>
          </p:contentPart>
        </mc:Choice>
        <mc:Fallback xmlns="">
          <p:pic>
            <p:nvPicPr>
              <p:cNvPr id="10" name="Ink 9"/>
            </p:nvPicPr>
            <p:blipFill>
              <a:blip r:embed="rId5"/>
            </p:blipFill>
            <p:spPr>
              <a:xfrm>
                <a:off x="1846276" y="6462633"/>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1" name="Ink 10"/>
              <p14:cNvContentPartPr/>
              <p14:nvPr/>
            </p14:nvContentPartPr>
            <p14:xfrm>
              <a:off x="1846276" y="6462633"/>
              <a:ext cx="360" cy="360"/>
            </p14:xfrm>
          </p:contentPart>
        </mc:Choice>
        <mc:Fallback xmlns="">
          <p:pic>
            <p:nvPicPr>
              <p:cNvPr id="11" name="Ink 10"/>
            </p:nvPicPr>
            <p:blipFill>
              <a:blip r:embed="rId5"/>
            </p:blipFill>
            <p:spPr>
              <a:xfrm>
                <a:off x="1846276" y="6462633"/>
                <a:ext cx="36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2" name="Ink 11"/>
              <p14:cNvContentPartPr/>
              <p14:nvPr/>
            </p14:nvContentPartPr>
            <p14:xfrm>
              <a:off x="1846276" y="6462633"/>
              <a:ext cx="360" cy="360"/>
            </p14:xfrm>
          </p:contentPart>
        </mc:Choice>
        <mc:Fallback xmlns="">
          <p:pic>
            <p:nvPicPr>
              <p:cNvPr id="12" name="Ink 11"/>
            </p:nvPicPr>
            <p:blipFill>
              <a:blip r:embed="rId5"/>
            </p:blipFill>
            <p:spPr>
              <a:xfrm>
                <a:off x="1846276" y="6462633"/>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3" name="Ink 12"/>
              <p14:cNvContentPartPr/>
              <p14:nvPr/>
            </p14:nvContentPartPr>
            <p14:xfrm>
              <a:off x="-222284" y="4536273"/>
              <a:ext cx="360" cy="360"/>
            </p14:xfrm>
          </p:contentPart>
        </mc:Choice>
        <mc:Fallback xmlns="">
          <p:pic>
            <p:nvPicPr>
              <p:cNvPr id="13" name="Ink 12"/>
            </p:nvPicPr>
            <p:blipFill>
              <a:blip r:embed="rId5"/>
            </p:blipFill>
            <p:spPr>
              <a:xfrm>
                <a:off x="-222284" y="4536273"/>
                <a:ext cx="360" cy="360"/>
              </a:xfrm>
              <a:prstGeom prst="rect"/>
            </p:spPr>
          </p:pic>
        </mc:Fallback>
      </mc:AlternateContent>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a:lstStyle>
          <a:p>
            <a:r>
              <a:rPr lang="en-US" dirty="0"/>
              <a:t>Click to edit Master title style</a:t>
            </a:r>
            <a:endParaRPr lang="en-US" dirty="0"/>
          </a:p>
        </p:txBody>
      </p:sp>
      <p:pic>
        <p:nvPicPr>
          <p:cNvPr id="6" name="Picture 5"/>
          <p:cNvPicPr>
            <a:picLocks noChangeAspect="1"/>
          </p:cNvPicPr>
          <p:nvPr userDrawn="1"/>
        </p:nvPicPr>
        <p:blipFill>
          <a:blip r:embed="rId2"/>
          <a:stretch>
            <a:fillRect/>
          </a:stretch>
        </p:blipFill>
        <p:spPr>
          <a:xfrm>
            <a:off x="340139" y="6371623"/>
            <a:ext cx="2456070" cy="378964"/>
          </a:xfrm>
          <a:prstGeom prst="rect">
            <a:avLst/>
          </a:prstGeom>
        </p:spPr>
      </p:pic>
      <p:pic>
        <p:nvPicPr>
          <p:cNvPr id="7" name="Picture 6"/>
          <p:cNvPicPr>
            <a:picLocks noChangeAspect="1"/>
          </p:cNvPicPr>
          <p:nvPr userDrawn="1"/>
        </p:nvPicPr>
        <p:blipFill>
          <a:blip r:embed="rId3"/>
          <a:stretch>
            <a:fillRect/>
          </a:stretch>
        </p:blipFill>
        <p:spPr>
          <a:xfrm>
            <a:off x="8475870" y="6371623"/>
            <a:ext cx="3375991" cy="39776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3_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340139" y="6371623"/>
            <a:ext cx="2456070" cy="378964"/>
          </a:xfrm>
          <a:prstGeom prst="rect">
            <a:avLst/>
          </a:prstGeom>
        </p:spPr>
      </p:pic>
      <p:pic>
        <p:nvPicPr>
          <p:cNvPr id="6" name="Picture 5"/>
          <p:cNvPicPr>
            <a:picLocks noChangeAspect="1"/>
          </p:cNvPicPr>
          <p:nvPr userDrawn="1"/>
        </p:nvPicPr>
        <p:blipFill>
          <a:blip r:embed="rId3"/>
          <a:stretch>
            <a:fillRect/>
          </a:stretch>
        </p:blipFill>
        <p:spPr>
          <a:xfrm>
            <a:off x="8475870" y="6371623"/>
            <a:ext cx="3375991" cy="397761"/>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atin typeface="IBM Plex Mono SemiBold" panose="020B0709050203000203" pitchFamily="49" charset="0"/>
              </a:defRPr>
            </a:lvl1pPr>
            <a:lvl2pPr>
              <a:defRPr sz="2800">
                <a:latin typeface="IBM Plex Mono Text" panose="020B0509050203000203" pitchFamily="49" charset="0"/>
              </a:defRPr>
            </a:lvl2pPr>
            <a:lvl3pPr>
              <a:defRPr sz="2400">
                <a:latin typeface="IBM Plex Mono Text" panose="020B0509050203000203" pitchFamily="49" charset="0"/>
              </a:defRPr>
            </a:lvl3pPr>
            <a:lvl4pPr>
              <a:defRPr sz="2000">
                <a:latin typeface="IBM Plex Mono Text" panose="020B0509050203000203" pitchFamily="49" charset="0"/>
              </a:defRPr>
            </a:lvl4pPr>
            <a:lvl5pPr>
              <a:defRPr sz="2000">
                <a:latin typeface="IBM Plex Mono Text" panose="020B0509050203000203" pitchFamily="49" charset="0"/>
              </a:defRPr>
            </a:lvl5pPr>
            <a:lvl6pPr>
              <a:defRPr sz="2000"/>
            </a:lvl6pPr>
            <a:lvl7pPr>
              <a:defRPr sz="2000"/>
            </a:lvl7pPr>
            <a:lvl8pPr>
              <a:defRPr sz="2000"/>
            </a:lvl8pPr>
            <a:lvl9pPr>
              <a:defRPr sz="20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atin typeface="IBM Plex Mono SemiBold" panose="020B0709050203000203" pitchFamily="49" charset="0"/>
              </a:defRPr>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atin typeface="IBM Plex Mono Text" panose="020B0509050203000203" pitchFamily="49"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IBM Plex Mono SemiBold" panose="020B0709050203000203" pitchFamily="49" charset="0"/>
              </a:defRPr>
            </a:lvl1p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lvl1pPr>
              <a:defRPr>
                <a:latin typeface="IBM Plex Mono Text" panose="020B0509050203000203" pitchFamily="49" charset="0"/>
              </a:defRPr>
            </a:lvl1pPr>
            <a:lvl2pPr>
              <a:defRPr>
                <a:latin typeface="IBM Plex Mono Text" panose="020B0509050203000203" pitchFamily="49" charset="0"/>
              </a:defRPr>
            </a:lvl2pPr>
            <a:lvl3pPr>
              <a:defRPr>
                <a:latin typeface="IBM Plex Mono Text" panose="020B0509050203000203" pitchFamily="49" charset="0"/>
              </a:defRPr>
            </a:lvl3pPr>
            <a:lvl4pPr>
              <a:defRPr>
                <a:latin typeface="IBM Plex Mono Text" panose="020B0509050203000203" pitchFamily="49" charset="0"/>
              </a:defRPr>
            </a:lvl4pPr>
            <a:lvl5pPr>
              <a:defRPr>
                <a:latin typeface="IBM Plex Mono Text" panose="020B0509050203000203" pitchFamily="49" charset="0"/>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5.png"/><Relationship Id="rId15" Type="http://schemas.openxmlformats.org/officeDocument/2006/relationships/image" Target="../media/image4.tiff"/><Relationship Id="rId14" Type="http://schemas.openxmlformats.org/officeDocument/2006/relationships/image" Target="../media/image3.tiff"/><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pic>
        <p:nvPicPr>
          <p:cNvPr id="7" name="Picture 6"/>
          <p:cNvPicPr>
            <a:picLocks noChangeAspect="1"/>
          </p:cNvPicPr>
          <p:nvPr userDrawn="1"/>
        </p:nvPicPr>
        <p:blipFill>
          <a:blip r:embed="rId14"/>
          <a:stretch>
            <a:fillRect/>
          </a:stretch>
        </p:blipFill>
        <p:spPr>
          <a:xfrm>
            <a:off x="340139" y="6371623"/>
            <a:ext cx="2456070" cy="378964"/>
          </a:xfrm>
          <a:prstGeom prst="rect">
            <a:avLst/>
          </a:prstGeom>
        </p:spPr>
      </p:pic>
      <p:pic>
        <p:nvPicPr>
          <p:cNvPr id="8" name="Picture 7"/>
          <p:cNvPicPr>
            <a:picLocks noChangeAspect="1"/>
          </p:cNvPicPr>
          <p:nvPr userDrawn="1"/>
        </p:nvPicPr>
        <p:blipFill>
          <a:blip r:embed="rId15"/>
          <a:stretch>
            <a:fillRect/>
          </a:stretch>
        </p:blipFill>
        <p:spPr>
          <a:xfrm>
            <a:off x="8475870" y="6371623"/>
            <a:ext cx="3375991" cy="397761"/>
          </a:xfrm>
          <a:prstGeom prst="rect">
            <a:avLst/>
          </a:prstGeom>
        </p:spPr>
      </p:pic>
      <p:pic>
        <p:nvPicPr>
          <p:cNvPr id="4" name="Picture 3"/>
          <p:cNvPicPr>
            <a:picLocks noChangeAspect="1"/>
          </p:cNvPicPr>
          <p:nvPr userDrawn="1"/>
        </p:nvPicPr>
        <p:blipFill>
          <a:blip r:embed="rId16">
            <a:alphaModFix amt="3000"/>
            <a:extLst>
              <a:ext uri="{28A0092B-C50C-407E-A947-70E740481C1C}">
                <a14:useLocalDpi xmlns:a14="http://schemas.microsoft.com/office/drawing/2010/main" val="0"/>
              </a:ext>
            </a:extLst>
          </a:blip>
          <a:stretch>
            <a:fillRect/>
          </a:stretch>
        </p:blipFill>
        <p:spPr>
          <a:xfrm>
            <a:off x="1066800" y="861346"/>
            <a:ext cx="10058400" cy="569975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000" kern="1200">
          <a:solidFill>
            <a:srgbClr val="005493"/>
          </a:solidFill>
          <a:latin typeface="IBM Plex Mono SemiBold" panose="020B0709050203000203" pitchFamily="49" charset="0"/>
          <a:ea typeface="IBM Plex Mono SemiBold" panose="020B0709050203000203" pitchFamily="49" charset="0"/>
          <a:cs typeface="IBM Plex Mono SemiBold" panose="020B0709050203000203" pitchFamily="49" charset="0"/>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customXml" Target="../ink/ink14.xml"/><Relationship Id="rId8" Type="http://schemas.openxmlformats.org/officeDocument/2006/relationships/customXml" Target="../ink/ink13.xml"/><Relationship Id="rId7" Type="http://schemas.openxmlformats.org/officeDocument/2006/relationships/customXml" Target="../ink/ink12.xml"/><Relationship Id="rId6" Type="http://schemas.openxmlformats.org/officeDocument/2006/relationships/customXml" Target="../ink/ink11.xml"/><Relationship Id="rId5" Type="http://schemas.openxmlformats.org/officeDocument/2006/relationships/image" Target="../media/image8.png"/><Relationship Id="rId4" Type="http://schemas.openxmlformats.org/officeDocument/2006/relationships/customXml" Target="../ink/ink10.xml"/><Relationship Id="rId32" Type="http://schemas.openxmlformats.org/officeDocument/2006/relationships/notesSlide" Target="../notesSlides/notesSlide1.xml"/><Relationship Id="rId31" Type="http://schemas.openxmlformats.org/officeDocument/2006/relationships/slideLayout" Target="../slideLayouts/slideLayout4.xml"/><Relationship Id="rId30" Type="http://schemas.openxmlformats.org/officeDocument/2006/relationships/image" Target="../media/image12.png"/><Relationship Id="rId3" Type="http://schemas.openxmlformats.org/officeDocument/2006/relationships/image" Target="../media/image7.png"/><Relationship Id="rId29" Type="http://schemas.openxmlformats.org/officeDocument/2006/relationships/customXml" Target="../ink/ink30.xml"/><Relationship Id="rId28" Type="http://schemas.openxmlformats.org/officeDocument/2006/relationships/customXml" Target="../ink/ink29.xml"/><Relationship Id="rId27" Type="http://schemas.openxmlformats.org/officeDocument/2006/relationships/image" Target="../media/image11.png"/><Relationship Id="rId26" Type="http://schemas.openxmlformats.org/officeDocument/2006/relationships/customXml" Target="../ink/ink28.xml"/><Relationship Id="rId25" Type="http://schemas.openxmlformats.org/officeDocument/2006/relationships/customXml" Target="../ink/ink27.xml"/><Relationship Id="rId24" Type="http://schemas.openxmlformats.org/officeDocument/2006/relationships/customXml" Target="../ink/ink26.xml"/><Relationship Id="rId23" Type="http://schemas.openxmlformats.org/officeDocument/2006/relationships/customXml" Target="../ink/ink25.xml"/><Relationship Id="rId22" Type="http://schemas.openxmlformats.org/officeDocument/2006/relationships/customXml" Target="../ink/ink24.xml"/><Relationship Id="rId21" Type="http://schemas.openxmlformats.org/officeDocument/2006/relationships/customXml" Target="../ink/ink23.xml"/><Relationship Id="rId20" Type="http://schemas.openxmlformats.org/officeDocument/2006/relationships/customXml" Target="../ink/ink22.xml"/><Relationship Id="rId2" Type="http://schemas.openxmlformats.org/officeDocument/2006/relationships/customXml" Target="../ink/ink9.xml"/><Relationship Id="rId19" Type="http://schemas.openxmlformats.org/officeDocument/2006/relationships/customXml" Target="../ink/ink21.xml"/><Relationship Id="rId18" Type="http://schemas.openxmlformats.org/officeDocument/2006/relationships/customXml" Target="../ink/ink20.xml"/><Relationship Id="rId17" Type="http://schemas.openxmlformats.org/officeDocument/2006/relationships/customXml" Target="../ink/ink19.xml"/><Relationship Id="rId16" Type="http://schemas.openxmlformats.org/officeDocument/2006/relationships/customXml" Target="../ink/ink18.xml"/><Relationship Id="rId15" Type="http://schemas.openxmlformats.org/officeDocument/2006/relationships/image" Target="../media/image10.png"/><Relationship Id="rId14" Type="http://schemas.openxmlformats.org/officeDocument/2006/relationships/customXml" Target="../ink/ink17.xml"/><Relationship Id="rId13" Type="http://schemas.openxmlformats.org/officeDocument/2006/relationships/customXml" Target="../ink/ink16.xml"/><Relationship Id="rId12" Type="http://schemas.openxmlformats.org/officeDocument/2006/relationships/image" Target="../media/image2.png"/><Relationship Id="rId11" Type="http://schemas.openxmlformats.org/officeDocument/2006/relationships/customXml" Target="../ink/ink15.xml"/><Relationship Id="rId10" Type="http://schemas.openxmlformats.org/officeDocument/2006/relationships/image" Target="../media/image9.png"/><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customXml" Target="../ink/ink35.xml"/><Relationship Id="rId7" Type="http://schemas.openxmlformats.org/officeDocument/2006/relationships/image" Target="../media/image14.png"/><Relationship Id="rId6" Type="http://schemas.openxmlformats.org/officeDocument/2006/relationships/customXml" Target="../ink/ink34.xml"/><Relationship Id="rId5" Type="http://schemas.openxmlformats.org/officeDocument/2006/relationships/customXml" Target="../ink/ink33.xml"/><Relationship Id="rId4" Type="http://schemas.openxmlformats.org/officeDocument/2006/relationships/customXml" Target="../ink/ink32.xml"/><Relationship Id="rId3" Type="http://schemas.openxmlformats.org/officeDocument/2006/relationships/image" Target="../media/image2.png"/><Relationship Id="rId2" Type="http://schemas.openxmlformats.org/officeDocument/2006/relationships/customXml" Target="../ink/ink31.xml"/><Relationship Id="rId15" Type="http://schemas.openxmlformats.org/officeDocument/2006/relationships/slideLayout" Target="../slideLayouts/slideLayout4.xml"/><Relationship Id="rId14" Type="http://schemas.openxmlformats.org/officeDocument/2006/relationships/customXml" Target="../ink/ink40.xml"/><Relationship Id="rId13" Type="http://schemas.openxmlformats.org/officeDocument/2006/relationships/customXml" Target="../ink/ink39.xml"/><Relationship Id="rId12" Type="http://schemas.openxmlformats.org/officeDocument/2006/relationships/customXml" Target="../ink/ink38.xml"/><Relationship Id="rId11" Type="http://schemas.openxmlformats.org/officeDocument/2006/relationships/customXml" Target="../ink/ink37.xml"/><Relationship Id="rId10" Type="http://schemas.openxmlformats.org/officeDocument/2006/relationships/customXml" Target="../ink/ink36.xml"/><Relationship Id="rId1"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18.png"/><Relationship Id="rId3" Type="http://schemas.openxmlformats.org/officeDocument/2006/relationships/hyperlink" Target="https://cf-courses-data.s3.us.cloud-object-storage.appdomain.cloud/IBM-DA0321EN-SkillsNetwork/LargeData/m5_survey_data_technologies_normalised.csv" TargetMode="External"/><Relationship Id="rId2" Type="http://schemas.openxmlformats.org/officeDocument/2006/relationships/hyperlink" Target="https://cf-courses-data.s3.us.cloud-object-storage.appdomain.cloud/IBM-DA0321EN-SkillsNetwork/LargeData/m5_survey_data_demographics.csv" TargetMode="External"/><Relationship Id="rId1" Type="http://schemas.openxmlformats.org/officeDocument/2006/relationships/hyperlink" Target="https://stackoverflow.blog/2019/04/09/the-2019-stack-overflow-developer-survey-results-are-in?cm_mmc=Email_Newsletter-_-Developer_Ed%2BTech-_-WW_WW-_-SkillsNetwork-Courses-IBM-DA0321EN-SkillsNetwork-21426264&amp;cm_mmca1=000026UJ&amp;cm_mmca2=10006555&amp;cm_mmca3=M12345678&amp;cvosrc=email.Newsletter.M12345678&amp;cvo_campaign=000026UJ&amp;cm_mmc=Email_Newsletter-_-Developer_Ed%2BTech-_-WW_WW-_-SkillsNetwork-Courses-IBM-DA0321EN-SkillsNetwork-21426264&amp;cm_mmca1=000026UJ&amp;cm_mmca2=10006555&amp;cm_mmca3=M12345678&amp;cvosrc=email.Newsletter.M12345678&amp;cvo_campaign=000026UJ"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0.jpeg"/><Relationship Id="rId1" Type="http://schemas.openxmlformats.org/officeDocument/2006/relationships/image" Target="../media/image1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0.jpeg"/><Relationship Id="rId1" Type="http://schemas.openxmlformats.org/officeDocument/2006/relationships/image" Target="../media/image1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0.jpeg"/><Relationship Id="rId1"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21.png"/><Relationship Id="rId1" Type="http://schemas.openxmlformats.org/officeDocument/2006/relationships/hyperlink" Target="https://dataplatform.cloud.ibm.com/dashboards/605c0ca9-4f1e-4293-9a8b-5d07d706cf44/view/7520e63c158c2aed48d1b1e407cf2e0574342208bbbbd25780d67b490b627897a93c4099c82843098b15506aa6e4155198" TargetMode="Externa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0" y="2345720"/>
            <a:ext cx="5181240" cy="1505408"/>
          </a:xfrm>
        </p:spPr>
        <p:txBody>
          <a:bodyPr anchor="ctr">
            <a:normAutofit fontScale="90000"/>
          </a:bodyPr>
          <a:lstStyle/>
          <a:p>
            <a:pPr algn="ctr"/>
            <a:r>
              <a:rPr lang="en-US" b="1" dirty="0">
                <a:solidFill>
                  <a:srgbClr val="0E659B"/>
                </a:solidFill>
              </a:rPr>
              <a:t>Emerging Trending Skills Required In IT industry In the future</a:t>
            </a:r>
            <a:endParaRPr lang="en-US" b="1" dirty="0">
              <a:solidFill>
                <a:srgbClr val="0E659B"/>
              </a:solidFill>
            </a:endParaRPr>
          </a:p>
        </p:txBody>
      </p:sp>
      <p:pic>
        <p:nvPicPr>
          <p:cNvPr id="4" name="Picture 3"/>
          <p:cNvPicPr>
            <a:picLocks noChangeAspect="1"/>
          </p:cNvPicPr>
          <p:nvPr/>
        </p:nvPicPr>
        <p:blipFill>
          <a:blip r:embed="rId1"/>
          <a:stretch>
            <a:fillRect/>
          </a:stretch>
        </p:blipFill>
        <p:spPr>
          <a:xfrm>
            <a:off x="1031569" y="1825625"/>
            <a:ext cx="4794861" cy="4351338"/>
          </a:xfrm>
          <a:prstGeom prst="rect">
            <a:avLst/>
          </a:prstGeom>
          <a:noFill/>
        </p:spPr>
      </p:pic>
      <p:sp>
        <p:nvSpPr>
          <p:cNvPr id="3" name="Subtitle 2"/>
          <p:cNvSpPr>
            <a:spLocks noGrp="1"/>
          </p:cNvSpPr>
          <p:nvPr>
            <p:ph sz="half" idx="2"/>
          </p:nvPr>
        </p:nvSpPr>
        <p:spPr>
          <a:xfrm>
            <a:off x="5995852" y="4805619"/>
            <a:ext cx="3821654" cy="1506489"/>
          </a:xfrm>
        </p:spPr>
        <p:txBody>
          <a:bodyPr>
            <a:normAutofit/>
          </a:bodyPr>
          <a:lstStyle/>
          <a:p>
            <a:pPr marL="0" indent="0">
              <a:buNone/>
            </a:pPr>
            <a:r>
              <a:rPr lang="en-GB" altLang="en-US" sz="2000" dirty="0"/>
              <a:t>Muhammad Umer Hameed</a:t>
            </a:r>
            <a:endParaRPr lang="en-US" sz="2000" dirty="0"/>
          </a:p>
          <a:p>
            <a:pPr marL="0" indent="0">
              <a:buNone/>
            </a:pPr>
            <a:r>
              <a:rPr lang="en-GB" altLang="en-US" sz="2000" dirty="0"/>
              <a:t>August</a:t>
            </a:r>
            <a:r>
              <a:rPr lang="en-US" sz="2000" dirty="0"/>
              <a:t> </a:t>
            </a:r>
            <a:r>
              <a:rPr lang="en-GB" altLang="en-US" sz="2000" dirty="0"/>
              <a:t>26</a:t>
            </a:r>
            <a:r>
              <a:rPr lang="en-US" sz="2000" dirty="0"/>
              <a:t>, 2</a:t>
            </a:r>
            <a:r>
              <a:rPr lang="en-GB" altLang="en-US" sz="2000" dirty="0"/>
              <a:t>026</a:t>
            </a:r>
            <a:endParaRPr lang="en-GB" altLang="en-US" sz="2000" dirty="0"/>
          </a:p>
        </p:txBody>
      </p:sp>
      <mc:AlternateContent xmlns:mc="http://schemas.openxmlformats.org/markup-compatibility/2006" xmlns:p14="http://schemas.microsoft.com/office/powerpoint/2010/main">
        <mc:Choice Requires="p14">
          <p:contentPart r:id="rId2" p14:bwMode="auto">
            <p14:nvContentPartPr>
              <p14:cNvPr id="6" name="Ink 5"/>
              <p14:cNvContentPartPr/>
              <p14:nvPr/>
            </p14:nvContentPartPr>
            <p14:xfrm>
              <a:off x="1388880" y="6545472"/>
              <a:ext cx="1390320" cy="112320"/>
            </p14:xfrm>
          </p:contentPart>
        </mc:Choice>
        <mc:Fallback xmlns="">
          <p:pic>
            <p:nvPicPr>
              <p:cNvPr id="6" name="Ink 5"/>
            </p:nvPicPr>
            <p:blipFill>
              <a:blip r:embed="rId3"/>
            </p:blipFill>
            <p:spPr>
              <a:xfrm>
                <a:off x="1388880" y="6545472"/>
                <a:ext cx="1390320" cy="11232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Ink 6"/>
              <p14:cNvContentPartPr/>
              <p14:nvPr/>
            </p14:nvContentPartPr>
            <p14:xfrm>
              <a:off x="2218680" y="6595872"/>
              <a:ext cx="360" cy="360"/>
            </p14:xfrm>
          </p:contentPart>
        </mc:Choice>
        <mc:Fallback xmlns="">
          <p:pic>
            <p:nvPicPr>
              <p:cNvPr id="7" name="Ink 6"/>
            </p:nvPicPr>
            <p:blipFill>
              <a:blip r:embed="rId5"/>
            </p:blipFill>
            <p:spPr>
              <a:xfrm>
                <a:off x="2218680" y="6595872"/>
                <a:ext cx="36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8" name="Ink 7"/>
              <p14:cNvContentPartPr/>
              <p14:nvPr/>
            </p14:nvContentPartPr>
            <p14:xfrm>
              <a:off x="2169720" y="6582912"/>
              <a:ext cx="360" cy="360"/>
            </p14:xfrm>
          </p:contentPart>
        </mc:Choice>
        <mc:Fallback xmlns="">
          <p:pic>
            <p:nvPicPr>
              <p:cNvPr id="8" name="Ink 7"/>
            </p:nvPicPr>
            <p:blipFill>
              <a:blip r:embed="rId5"/>
            </p:blipFill>
            <p:spPr>
              <a:xfrm>
                <a:off x="2169720" y="6582912"/>
                <a:ext cx="360"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9" name="Ink 8"/>
              <p14:cNvContentPartPr/>
              <p14:nvPr/>
            </p14:nvContentPartPr>
            <p14:xfrm>
              <a:off x="2169720" y="6582912"/>
              <a:ext cx="360" cy="360"/>
            </p14:xfrm>
          </p:contentPart>
        </mc:Choice>
        <mc:Fallback xmlns="">
          <p:pic>
            <p:nvPicPr>
              <p:cNvPr id="9" name="Ink 8"/>
            </p:nvPicPr>
            <p:blipFill>
              <a:blip r:embed="rId5"/>
            </p:blipFill>
            <p:spPr>
              <a:xfrm>
                <a:off x="2169720" y="6582912"/>
                <a:ext cx="360"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 name="Ink 9"/>
              <p14:cNvContentPartPr/>
              <p14:nvPr/>
            </p14:nvContentPartPr>
            <p14:xfrm>
              <a:off x="2169720" y="6582912"/>
              <a:ext cx="360" cy="360"/>
            </p14:xfrm>
          </p:contentPart>
        </mc:Choice>
        <mc:Fallback xmlns="">
          <p:pic>
            <p:nvPicPr>
              <p:cNvPr id="10" name="Ink 9"/>
            </p:nvPicPr>
            <p:blipFill>
              <a:blip r:embed="rId5"/>
            </p:blipFill>
            <p:spPr>
              <a:xfrm>
                <a:off x="2169720" y="6582912"/>
                <a:ext cx="360" cy="36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13" name="Ink 12"/>
              <p14:cNvContentPartPr/>
              <p14:nvPr/>
            </p14:nvContentPartPr>
            <p14:xfrm>
              <a:off x="-1512000" y="5066496"/>
              <a:ext cx="360" cy="5040"/>
            </p14:xfrm>
          </p:contentPart>
        </mc:Choice>
        <mc:Fallback xmlns="">
          <p:pic>
            <p:nvPicPr>
              <p:cNvPr id="13" name="Ink 12"/>
            </p:nvPicPr>
            <p:blipFill>
              <a:blip r:embed="rId10"/>
            </p:blipFill>
            <p:spPr>
              <a:xfrm>
                <a:off x="-1512000" y="5066496"/>
                <a:ext cx="360" cy="504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4" name="Ink 13"/>
              <p14:cNvContentPartPr/>
              <p14:nvPr/>
            </p14:nvContentPartPr>
            <p14:xfrm>
              <a:off x="2998440" y="1035936"/>
              <a:ext cx="360" cy="360"/>
            </p14:xfrm>
          </p:contentPart>
        </mc:Choice>
        <mc:Fallback xmlns="">
          <p:pic>
            <p:nvPicPr>
              <p:cNvPr id="14" name="Ink 13"/>
            </p:nvPicPr>
            <p:blipFill>
              <a:blip r:embed="rId12"/>
            </p:blipFill>
            <p:spPr>
              <a:xfrm>
                <a:off x="2998440" y="1035936"/>
                <a:ext cx="360" cy="3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5" name="Ink 14"/>
              <p14:cNvContentPartPr/>
              <p14:nvPr/>
            </p14:nvContentPartPr>
            <p14:xfrm>
              <a:off x="2998440" y="1035936"/>
              <a:ext cx="360" cy="360"/>
            </p14:xfrm>
          </p:contentPart>
        </mc:Choice>
        <mc:Fallback xmlns="">
          <p:pic>
            <p:nvPicPr>
              <p:cNvPr id="15" name="Ink 14"/>
            </p:nvPicPr>
            <p:blipFill>
              <a:blip r:embed="rId12"/>
            </p:blipFill>
            <p:spPr>
              <a:xfrm>
                <a:off x="2998440" y="1035936"/>
                <a:ext cx="360" cy="36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6" name="Ink 15"/>
              <p14:cNvContentPartPr/>
              <p14:nvPr/>
            </p14:nvContentPartPr>
            <p14:xfrm>
              <a:off x="2993760" y="1035936"/>
              <a:ext cx="5040" cy="360"/>
            </p14:xfrm>
          </p:contentPart>
        </mc:Choice>
        <mc:Fallback xmlns="">
          <p:pic>
            <p:nvPicPr>
              <p:cNvPr id="16" name="Ink 15"/>
            </p:nvPicPr>
            <p:blipFill>
              <a:blip r:embed="rId15"/>
            </p:blipFill>
            <p:spPr>
              <a:xfrm>
                <a:off x="2993760" y="1035936"/>
                <a:ext cx="5040"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7" name="Ink 16"/>
              <p14:cNvContentPartPr/>
              <p14:nvPr/>
            </p14:nvContentPartPr>
            <p14:xfrm>
              <a:off x="3729960" y="950616"/>
              <a:ext cx="360" cy="360"/>
            </p14:xfrm>
          </p:contentPart>
        </mc:Choice>
        <mc:Fallback xmlns="">
          <p:pic>
            <p:nvPicPr>
              <p:cNvPr id="17" name="Ink 16"/>
            </p:nvPicPr>
            <p:blipFill>
              <a:blip r:embed="rId12"/>
            </p:blipFill>
            <p:spPr>
              <a:xfrm>
                <a:off x="3729960" y="950616"/>
                <a:ext cx="360" cy="36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8" name="Ink 17"/>
              <p14:cNvContentPartPr/>
              <p14:nvPr/>
            </p14:nvContentPartPr>
            <p14:xfrm>
              <a:off x="3620520" y="1047816"/>
              <a:ext cx="360" cy="360"/>
            </p14:xfrm>
          </p:contentPart>
        </mc:Choice>
        <mc:Fallback xmlns="">
          <p:pic>
            <p:nvPicPr>
              <p:cNvPr id="18" name="Ink 17"/>
            </p:nvPicPr>
            <p:blipFill>
              <a:blip r:embed="rId12"/>
            </p:blipFill>
            <p:spPr>
              <a:xfrm>
                <a:off x="3620520" y="1047816"/>
                <a:ext cx="360" cy="360"/>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9" name="Ink 18"/>
              <p14:cNvContentPartPr/>
              <p14:nvPr/>
            </p14:nvContentPartPr>
            <p14:xfrm>
              <a:off x="7131960" y="2462616"/>
              <a:ext cx="360" cy="360"/>
            </p14:xfrm>
          </p:contentPart>
        </mc:Choice>
        <mc:Fallback xmlns="">
          <p:pic>
            <p:nvPicPr>
              <p:cNvPr id="19" name="Ink 18"/>
            </p:nvPicPr>
            <p:blipFill>
              <a:blip r:embed="rId12"/>
            </p:blipFill>
            <p:spPr>
              <a:xfrm>
                <a:off x="7131960" y="2462616"/>
                <a:ext cx="360" cy="36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0" name="Ink 19"/>
              <p14:cNvContentPartPr/>
              <p14:nvPr/>
            </p14:nvContentPartPr>
            <p14:xfrm>
              <a:off x="7131960" y="2510856"/>
              <a:ext cx="360" cy="360"/>
            </p14:xfrm>
          </p:contentPart>
        </mc:Choice>
        <mc:Fallback xmlns="">
          <p:pic>
            <p:nvPicPr>
              <p:cNvPr id="20" name="Ink 19"/>
            </p:nvPicPr>
            <p:blipFill>
              <a:blip r:embed="rId12"/>
            </p:blipFill>
            <p:spPr>
              <a:xfrm>
                <a:off x="7131960" y="2510856"/>
                <a:ext cx="360" cy="360"/>
              </a:xfrm>
              <a:prstGeom prst="rect"/>
            </p:spPr>
          </p:pic>
        </mc:Fallback>
      </mc:AlternateContent>
      <mc:AlternateContent xmlns:mc="http://schemas.openxmlformats.org/markup-compatibility/2006" xmlns:p14="http://schemas.microsoft.com/office/powerpoint/2010/main">
        <mc:Choice Requires="p14">
          <p:contentPart r:id="rId20" p14:bwMode="auto">
            <p14:nvContentPartPr>
              <p14:cNvPr id="21" name="Ink 20"/>
              <p14:cNvContentPartPr/>
              <p14:nvPr/>
            </p14:nvContentPartPr>
            <p14:xfrm>
              <a:off x="6644160" y="4559256"/>
              <a:ext cx="360" cy="360"/>
            </p14:xfrm>
          </p:contentPart>
        </mc:Choice>
        <mc:Fallback xmlns="">
          <p:pic>
            <p:nvPicPr>
              <p:cNvPr id="21" name="Ink 20"/>
            </p:nvPicPr>
            <p:blipFill>
              <a:blip r:embed="rId12"/>
            </p:blipFill>
            <p:spPr>
              <a:xfrm>
                <a:off x="6644160" y="4559256"/>
                <a:ext cx="360" cy="36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2" name="Ink 21"/>
              <p14:cNvContentPartPr/>
              <p14:nvPr/>
            </p14:nvContentPartPr>
            <p14:xfrm>
              <a:off x="-1926720" y="3961656"/>
              <a:ext cx="360" cy="360"/>
            </p14:xfrm>
          </p:contentPart>
        </mc:Choice>
        <mc:Fallback xmlns="">
          <p:pic>
            <p:nvPicPr>
              <p:cNvPr id="22" name="Ink 21"/>
            </p:nvPicPr>
            <p:blipFill>
              <a:blip r:embed="rId12"/>
            </p:blipFill>
            <p:spPr>
              <a:xfrm>
                <a:off x="-1926720" y="3961656"/>
                <a:ext cx="360" cy="36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23" name="Ink 22"/>
              <p14:cNvContentPartPr/>
              <p14:nvPr/>
            </p14:nvContentPartPr>
            <p14:xfrm>
              <a:off x="-1049040" y="3218256"/>
              <a:ext cx="360" cy="360"/>
            </p14:xfrm>
          </p:contentPart>
        </mc:Choice>
        <mc:Fallback xmlns="">
          <p:pic>
            <p:nvPicPr>
              <p:cNvPr id="23" name="Ink 22"/>
            </p:nvPicPr>
            <p:blipFill>
              <a:blip r:embed="rId12"/>
            </p:blipFill>
            <p:spPr>
              <a:xfrm>
                <a:off x="-1049040" y="3218256"/>
                <a:ext cx="360" cy="36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4" name="Ink 23"/>
              <p14:cNvContentPartPr/>
              <p14:nvPr/>
            </p14:nvContentPartPr>
            <p14:xfrm>
              <a:off x="2047680" y="1023696"/>
              <a:ext cx="360" cy="360"/>
            </p14:xfrm>
          </p:contentPart>
        </mc:Choice>
        <mc:Fallback xmlns="">
          <p:pic>
            <p:nvPicPr>
              <p:cNvPr id="24" name="Ink 23"/>
            </p:nvPicPr>
            <p:blipFill>
              <a:blip r:embed="rId12"/>
            </p:blipFill>
            <p:spPr>
              <a:xfrm>
                <a:off x="2047680" y="1023696"/>
                <a:ext cx="360" cy="360"/>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5" name="Ink 24"/>
              <p14:cNvContentPartPr/>
              <p14:nvPr/>
            </p14:nvContentPartPr>
            <p14:xfrm>
              <a:off x="2084400" y="1023696"/>
              <a:ext cx="5040" cy="360"/>
            </p14:xfrm>
          </p:contentPart>
        </mc:Choice>
        <mc:Fallback xmlns="">
          <p:pic>
            <p:nvPicPr>
              <p:cNvPr id="25" name="Ink 24"/>
            </p:nvPicPr>
            <p:blipFill>
              <a:blip r:embed="rId15"/>
            </p:blipFill>
            <p:spPr>
              <a:xfrm>
                <a:off x="2084400" y="1023696"/>
                <a:ext cx="5040" cy="36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26" name="Ink 25"/>
              <p14:cNvContentPartPr/>
              <p14:nvPr/>
            </p14:nvContentPartPr>
            <p14:xfrm>
              <a:off x="1987200" y="1011456"/>
              <a:ext cx="360" cy="360"/>
            </p14:xfrm>
          </p:contentPart>
        </mc:Choice>
        <mc:Fallback xmlns="">
          <p:pic>
            <p:nvPicPr>
              <p:cNvPr id="26" name="Ink 25"/>
            </p:nvPicPr>
            <p:blipFill>
              <a:blip r:embed="rId12"/>
            </p:blipFill>
            <p:spPr>
              <a:xfrm>
                <a:off x="1987200" y="1011456"/>
                <a:ext cx="360" cy="360"/>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7" name="Ink 26"/>
              <p14:cNvContentPartPr/>
              <p14:nvPr/>
            </p14:nvContentPartPr>
            <p14:xfrm>
              <a:off x="-1855800" y="657936"/>
              <a:ext cx="27000" cy="23400"/>
            </p14:xfrm>
          </p:contentPart>
        </mc:Choice>
        <mc:Fallback xmlns="">
          <p:pic>
            <p:nvPicPr>
              <p:cNvPr id="27" name="Ink 26"/>
            </p:nvPicPr>
            <p:blipFill>
              <a:blip r:embed="rId27"/>
            </p:blipFill>
            <p:spPr>
              <a:xfrm>
                <a:off x="-1855800" y="657936"/>
                <a:ext cx="27000" cy="2340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8" name="Ink 27"/>
              <p14:cNvContentPartPr/>
              <p14:nvPr/>
            </p14:nvContentPartPr>
            <p14:xfrm>
              <a:off x="-268560" y="816336"/>
              <a:ext cx="5040" cy="360"/>
            </p14:xfrm>
          </p:contentPart>
        </mc:Choice>
        <mc:Fallback xmlns="">
          <p:pic>
            <p:nvPicPr>
              <p:cNvPr id="28" name="Ink 27"/>
            </p:nvPicPr>
            <p:blipFill>
              <a:blip r:embed="rId15"/>
            </p:blipFill>
            <p:spPr>
              <a:xfrm>
                <a:off x="-268560" y="816336"/>
                <a:ext cx="5040" cy="36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30" name="Ink 29"/>
              <p14:cNvContentPartPr/>
              <p14:nvPr/>
            </p14:nvContentPartPr>
            <p14:xfrm>
              <a:off x="-2207160" y="1998936"/>
              <a:ext cx="360" cy="360"/>
            </p14:xfrm>
          </p:contentPart>
        </mc:Choice>
        <mc:Fallback xmlns="">
          <p:pic>
            <p:nvPicPr>
              <p:cNvPr id="30" name="Ink 29"/>
            </p:nvPicPr>
            <p:blipFill>
              <a:blip r:embed="rId30"/>
            </p:blipFill>
            <p:spPr>
              <a:xfrm>
                <a:off x="-2207160" y="1998936"/>
                <a:ext cx="360" cy="360"/>
              </a:xfrm>
              <a:prstGeom prst="rec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450711" y="2025672"/>
            <a:ext cx="3194581" cy="3194581"/>
          </a:xfrm>
          <a:prstGeom prst="rect">
            <a:avLst/>
          </a:prstGeom>
        </p:spPr>
      </p:pic>
      <p:sp>
        <p:nvSpPr>
          <p:cNvPr id="2" name="Title 1"/>
          <p:cNvSpPr>
            <a:spLocks noGrp="1"/>
          </p:cNvSpPr>
          <p:nvPr>
            <p:ph type="title"/>
          </p:nvPr>
        </p:nvSpPr>
        <p:spPr>
          <a:xfrm>
            <a:off x="782054" y="263810"/>
            <a:ext cx="8508528" cy="1325563"/>
          </a:xfrm>
        </p:spPr>
        <p:txBody>
          <a:bodyPr anchor="ctr">
            <a:normAutofit/>
          </a:bodyPr>
          <a:lstStyle/>
          <a:p>
            <a:r>
              <a:rPr lang="en-US" dirty="0"/>
              <a:t>OUTLINE</a:t>
            </a:r>
            <a:endParaRPr lang="en-US" dirty="0"/>
          </a:p>
        </p:txBody>
      </p:sp>
      <p:sp>
        <p:nvSpPr>
          <p:cNvPr id="3" name="Content Placeholder 2"/>
          <p:cNvSpPr>
            <a:spLocks noGrp="1"/>
          </p:cNvSpPr>
          <p:nvPr>
            <p:ph sz="half" idx="2"/>
          </p:nvPr>
        </p:nvSpPr>
        <p:spPr>
          <a:xfrm>
            <a:off x="6172200" y="1825625"/>
            <a:ext cx="5181600" cy="4351338"/>
          </a:xfrm>
        </p:spPr>
        <p:txBody>
          <a:bodyPr>
            <a:normAutofit/>
          </a:bodyPr>
          <a:lstStyle/>
          <a:p>
            <a:r>
              <a:rPr lang="en-US" sz="2200" dirty="0"/>
              <a:t>Executive Summary</a:t>
            </a:r>
            <a:endParaRPr lang="en-US" sz="2200" dirty="0"/>
          </a:p>
          <a:p>
            <a:r>
              <a:rPr lang="en-US" sz="2200" dirty="0"/>
              <a:t>Introduction</a:t>
            </a:r>
            <a:endParaRPr lang="en-US" sz="2200" dirty="0"/>
          </a:p>
          <a:p>
            <a:r>
              <a:rPr lang="en-US" sz="2200" dirty="0"/>
              <a:t>Methodology</a:t>
            </a:r>
            <a:endParaRPr lang="en-US" sz="2200" dirty="0"/>
          </a:p>
          <a:p>
            <a:r>
              <a:rPr lang="en-US" sz="2200" dirty="0"/>
              <a:t>Results</a:t>
            </a:r>
            <a:endParaRPr lang="en-US" sz="2200" dirty="0"/>
          </a:p>
          <a:p>
            <a:pPr lvl="1"/>
            <a:r>
              <a:rPr lang="en-US" sz="1800" dirty="0"/>
              <a:t>Visualization – Charts</a:t>
            </a:r>
            <a:endParaRPr lang="en-US" sz="1800" dirty="0"/>
          </a:p>
          <a:p>
            <a:pPr lvl="1"/>
            <a:r>
              <a:rPr lang="en-US" sz="1800" dirty="0"/>
              <a:t>Dashboard</a:t>
            </a:r>
            <a:endParaRPr lang="en-US" sz="1800" dirty="0"/>
          </a:p>
          <a:p>
            <a:r>
              <a:rPr lang="en-US" sz="2200" dirty="0"/>
              <a:t>Discussion</a:t>
            </a:r>
            <a:endParaRPr lang="en-US" sz="2200" dirty="0"/>
          </a:p>
          <a:p>
            <a:pPr lvl="1"/>
            <a:r>
              <a:rPr lang="en-US" sz="1800" dirty="0"/>
              <a:t>Findings &amp; Implications</a:t>
            </a:r>
            <a:endParaRPr lang="en-US" sz="1800" dirty="0"/>
          </a:p>
          <a:p>
            <a:r>
              <a:rPr lang="en-US" sz="2200" dirty="0"/>
              <a:t>Conclusion</a:t>
            </a:r>
            <a:endParaRPr lang="en-US" sz="2200" dirty="0"/>
          </a:p>
          <a:p>
            <a:r>
              <a:rPr lang="en-US" sz="2200" dirty="0"/>
              <a:t>Appendix</a:t>
            </a:r>
            <a:endParaRPr lang="en-US" sz="2200" dirty="0"/>
          </a:p>
        </p:txBody>
      </p:sp>
      <mc:AlternateContent xmlns:mc="http://schemas.openxmlformats.org/markup-compatibility/2006" xmlns:p14="http://schemas.microsoft.com/office/powerpoint/2010/main">
        <mc:Choice Requires="p14">
          <p:contentPart r:id="rId2" p14:bwMode="auto">
            <p14:nvContentPartPr>
              <p14:cNvPr id="9" name="Ink 8"/>
              <p14:cNvContentPartPr/>
              <p14:nvPr/>
            </p14:nvContentPartPr>
            <p14:xfrm>
              <a:off x="1889280" y="999312"/>
              <a:ext cx="360" cy="360"/>
            </p14:xfrm>
          </p:contentPart>
        </mc:Choice>
        <mc:Fallback xmlns="">
          <p:pic>
            <p:nvPicPr>
              <p:cNvPr id="9" name="Ink 8"/>
            </p:nvPicPr>
            <p:blipFill>
              <a:blip r:embed="rId3"/>
            </p:blipFill>
            <p:spPr>
              <a:xfrm>
                <a:off x="1889280" y="999312"/>
                <a:ext cx="3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0" name="Ink 9"/>
              <p14:cNvContentPartPr/>
              <p14:nvPr/>
            </p14:nvContentPartPr>
            <p14:xfrm>
              <a:off x="2328120" y="962952"/>
              <a:ext cx="360" cy="360"/>
            </p14:xfrm>
          </p:contentPart>
        </mc:Choice>
        <mc:Fallback xmlns="">
          <p:pic>
            <p:nvPicPr>
              <p:cNvPr id="10" name="Ink 9"/>
            </p:nvPicPr>
            <p:blipFill>
              <a:blip r:embed="rId3"/>
            </p:blipFill>
            <p:spPr>
              <a:xfrm>
                <a:off x="2328120" y="962952"/>
                <a:ext cx="36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11" name="Ink 10"/>
              <p14:cNvContentPartPr/>
              <p14:nvPr/>
            </p14:nvContentPartPr>
            <p14:xfrm>
              <a:off x="2828160" y="926232"/>
              <a:ext cx="360" cy="360"/>
            </p14:xfrm>
          </p:contentPart>
        </mc:Choice>
        <mc:Fallback xmlns="">
          <p:pic>
            <p:nvPicPr>
              <p:cNvPr id="11" name="Ink 10"/>
            </p:nvPicPr>
            <p:blipFill>
              <a:blip r:embed="rId3"/>
            </p:blipFill>
            <p:spPr>
              <a:xfrm>
                <a:off x="2828160" y="926232"/>
                <a:ext cx="360" cy="360"/>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2" name="Ink 11"/>
              <p14:cNvContentPartPr/>
              <p14:nvPr/>
            </p14:nvContentPartPr>
            <p14:xfrm>
              <a:off x="2828160" y="926232"/>
              <a:ext cx="3240" cy="5040"/>
            </p14:xfrm>
          </p:contentPart>
        </mc:Choice>
        <mc:Fallback xmlns="">
          <p:pic>
            <p:nvPicPr>
              <p:cNvPr id="12" name="Ink 11"/>
            </p:nvPicPr>
            <p:blipFill>
              <a:blip r:embed="rId7"/>
            </p:blipFill>
            <p:spPr>
              <a:xfrm>
                <a:off x="2828160" y="926232"/>
                <a:ext cx="3240" cy="504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3" name="Ink 12"/>
              <p14:cNvContentPartPr/>
              <p14:nvPr/>
            </p14:nvContentPartPr>
            <p14:xfrm>
              <a:off x="-2109240" y="2669712"/>
              <a:ext cx="19800" cy="360"/>
            </p14:xfrm>
          </p:contentPart>
        </mc:Choice>
        <mc:Fallback xmlns="">
          <p:pic>
            <p:nvPicPr>
              <p:cNvPr id="13" name="Ink 12"/>
            </p:nvPicPr>
            <p:blipFill>
              <a:blip r:embed="rId9"/>
            </p:blipFill>
            <p:spPr>
              <a:xfrm>
                <a:off x="-2109240" y="2669712"/>
                <a:ext cx="19800" cy="360"/>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4" name="Ink 13"/>
              <p14:cNvContentPartPr/>
              <p14:nvPr/>
            </p14:nvContentPartPr>
            <p14:xfrm>
              <a:off x="7266240" y="2888952"/>
              <a:ext cx="360" cy="360"/>
            </p14:xfrm>
          </p:contentPart>
        </mc:Choice>
        <mc:Fallback xmlns="">
          <p:pic>
            <p:nvPicPr>
              <p:cNvPr id="14" name="Ink 13"/>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5" name="Ink 14"/>
              <p14:cNvContentPartPr/>
              <p14:nvPr/>
            </p14:nvContentPartPr>
            <p14:xfrm>
              <a:off x="7266240" y="2888952"/>
              <a:ext cx="360" cy="360"/>
            </p14:xfrm>
          </p:contentPart>
        </mc:Choice>
        <mc:Fallback xmlns="">
          <p:pic>
            <p:nvPicPr>
              <p:cNvPr id="15" name="Ink 14"/>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6" name="Ink 15"/>
              <p14:cNvContentPartPr/>
              <p14:nvPr/>
            </p14:nvContentPartPr>
            <p14:xfrm>
              <a:off x="7266240" y="2888952"/>
              <a:ext cx="360" cy="360"/>
            </p14:xfrm>
          </p:contentPart>
        </mc:Choice>
        <mc:Fallback xmlns="">
          <p:pic>
            <p:nvPicPr>
              <p:cNvPr id="16" name="Ink 15"/>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7" name="Ink 16"/>
              <p14:cNvContentPartPr/>
              <p14:nvPr/>
            </p14:nvContentPartPr>
            <p14:xfrm>
              <a:off x="7266240" y="2888952"/>
              <a:ext cx="360" cy="360"/>
            </p14:xfrm>
          </p:contentPart>
        </mc:Choice>
        <mc:Fallback xmlns="">
          <p:pic>
            <p:nvPicPr>
              <p:cNvPr id="17" name="Ink 16"/>
            </p:nvPicPr>
            <p:blipFill>
              <a:blip r:embed="rId3"/>
            </p:blipFill>
            <p:spPr>
              <a:xfrm>
                <a:off x="7266240" y="2888952"/>
                <a:ext cx="360" cy="360"/>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8" name="Ink 17"/>
              <p14:cNvContentPartPr/>
              <p14:nvPr/>
            </p14:nvContentPartPr>
            <p14:xfrm>
              <a:off x="6680880" y="2877072"/>
              <a:ext cx="360" cy="360"/>
            </p14:xfrm>
          </p:contentPart>
        </mc:Choice>
        <mc:Fallback xmlns="">
          <p:pic>
            <p:nvPicPr>
              <p:cNvPr id="18" name="Ink 17"/>
            </p:nvPicPr>
            <p:blipFill>
              <a:blip r:embed="rId3"/>
            </p:blipFill>
            <p:spPr>
              <a:xfrm>
                <a:off x="6680880" y="2877072"/>
                <a:ext cx="360" cy="360"/>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3926" y="304965"/>
            <a:ext cx="8565109" cy="1325563"/>
          </a:xfrm>
        </p:spPr>
        <p:txBody>
          <a:bodyPr anchor="ctr">
            <a:normAutofit/>
          </a:bodyPr>
          <a:lstStyle/>
          <a:p>
            <a:r>
              <a:rPr lang="en-US" dirty="0"/>
              <a:t>EXECUTIVE SUMMARY</a:t>
            </a:r>
            <a:endParaRPr lang="en-US" dirty="0"/>
          </a:p>
        </p:txBody>
      </p:sp>
      <p:sp>
        <p:nvSpPr>
          <p:cNvPr id="3" name="Content Placeholder 2"/>
          <p:cNvSpPr>
            <a:spLocks noGrp="1"/>
          </p:cNvSpPr>
          <p:nvPr>
            <p:ph sz="half" idx="2"/>
          </p:nvPr>
        </p:nvSpPr>
        <p:spPr>
          <a:xfrm>
            <a:off x="4285075" y="1825624"/>
            <a:ext cx="7068725" cy="4465447"/>
          </a:xfrm>
        </p:spPr>
        <p:txBody>
          <a:bodyPr>
            <a:normAutofit/>
          </a:bodyPr>
          <a:lstStyle/>
          <a:p>
            <a:r>
              <a:rPr lang="en-US" sz="2200" dirty="0"/>
              <a:t>IT industry is a competitive and ever changing industry which require constant refine new programing skill and </a:t>
            </a:r>
            <a:r>
              <a:rPr lang="en-US" sz="2200" dirty="0" err="1"/>
              <a:t>DataBases</a:t>
            </a:r>
            <a:r>
              <a:rPr lang="en-US" sz="2200" dirty="0"/>
              <a:t>. This project is used to analyze the trends </a:t>
            </a:r>
            <a:endParaRPr lang="en-US" sz="2200" dirty="0"/>
          </a:p>
          <a:p>
            <a:r>
              <a:rPr lang="en-US" sz="2200" dirty="0"/>
              <a:t>This project is used to analyze the trend:</a:t>
            </a:r>
            <a:endParaRPr lang="en-US" sz="2200" dirty="0"/>
          </a:p>
          <a:p>
            <a:pPr lvl="1"/>
            <a:r>
              <a:rPr lang="en-US" sz="1800" dirty="0"/>
              <a:t>Current Technology Usage </a:t>
            </a:r>
            <a:endParaRPr lang="en-US" sz="1800" dirty="0"/>
          </a:p>
          <a:p>
            <a:pPr lvl="1"/>
            <a:r>
              <a:rPr lang="en-US" sz="1800" dirty="0"/>
              <a:t>Future Technology Trend </a:t>
            </a:r>
            <a:endParaRPr lang="en-US" sz="1800" dirty="0"/>
          </a:p>
          <a:p>
            <a:pPr lvl="1"/>
            <a:r>
              <a:rPr lang="en-US" sz="1800" dirty="0"/>
              <a:t>Demographics in IT industry </a:t>
            </a:r>
            <a:endParaRPr lang="en-US" sz="1800" dirty="0"/>
          </a:p>
          <a:p>
            <a:r>
              <a:rPr lang="en-US" sz="2200" dirty="0"/>
              <a:t>The project is to identify the top programming languages</a:t>
            </a:r>
            <a:endParaRPr lang="en-US" sz="2200" dirty="0"/>
          </a:p>
          <a:p>
            <a:r>
              <a:rPr lang="en-US" sz="2200" dirty="0"/>
              <a:t>Identifying top database skills in demand</a:t>
            </a:r>
            <a:endParaRPr lang="en-US" sz="2200" dirty="0"/>
          </a:p>
          <a:p>
            <a:r>
              <a:rPr lang="en-US" sz="2200" dirty="0"/>
              <a:t>Popular IDEs</a:t>
            </a:r>
            <a:endParaRPr lang="en-US" sz="2200" dirty="0"/>
          </a:p>
        </p:txBody>
      </p:sp>
      <p:pic>
        <p:nvPicPr>
          <p:cNvPr id="5" name="Picture 4"/>
          <p:cNvPicPr>
            <a:picLocks noChangeAspect="1"/>
          </p:cNvPicPr>
          <p:nvPr/>
        </p:nvPicPr>
        <p:blipFill>
          <a:blip r:embed="rId1"/>
          <a:stretch>
            <a:fillRect/>
          </a:stretch>
        </p:blipFill>
        <p:spPr>
          <a:xfrm>
            <a:off x="1090494" y="2302762"/>
            <a:ext cx="3194581" cy="319458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021" y="365125"/>
            <a:ext cx="7647865" cy="1325563"/>
          </a:xfrm>
        </p:spPr>
        <p:txBody>
          <a:bodyPr anchor="ctr">
            <a:normAutofit/>
          </a:bodyPr>
          <a:lstStyle/>
          <a:p>
            <a:r>
              <a:rPr lang="en-US" dirty="0"/>
              <a:t>INTRODUCTION</a:t>
            </a:r>
            <a:endParaRPr lang="en-US" dirty="0"/>
          </a:p>
        </p:txBody>
      </p:sp>
      <p:pic>
        <p:nvPicPr>
          <p:cNvPr id="4" name="Picture 3"/>
          <p:cNvPicPr>
            <a:picLocks noChangeAspect="1"/>
          </p:cNvPicPr>
          <p:nvPr/>
        </p:nvPicPr>
        <p:blipFill>
          <a:blip r:embed="rId1"/>
          <a:stretch>
            <a:fillRect/>
          </a:stretch>
        </p:blipFill>
        <p:spPr>
          <a:xfrm>
            <a:off x="994347" y="2262036"/>
            <a:ext cx="3054361" cy="3054361"/>
          </a:xfrm>
          <a:prstGeom prst="rect">
            <a:avLst/>
          </a:prstGeom>
        </p:spPr>
      </p:pic>
      <p:sp>
        <p:nvSpPr>
          <p:cNvPr id="5" name="Content Placeholder 2"/>
          <p:cNvSpPr txBox="1"/>
          <p:nvPr/>
        </p:nvSpPr>
        <p:spPr>
          <a:xfrm>
            <a:off x="4285075" y="1825625"/>
            <a:ext cx="7068725"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endParaRPr lang="en-US" sz="1800" dirty="0"/>
          </a:p>
          <a:p>
            <a:r>
              <a:rPr lang="en-US" sz="2200" b="1" u="sng" dirty="0"/>
              <a:t>What is the emerging trend and future skill requirements in the Industry? </a:t>
            </a:r>
            <a:endParaRPr lang="en-US" sz="2200" b="1" u="sng" dirty="0"/>
          </a:p>
          <a:p>
            <a:pPr lvl="1"/>
            <a:r>
              <a:rPr lang="en-US" sz="1800" dirty="0"/>
              <a:t>What are the top programming language in demand?</a:t>
            </a:r>
            <a:endParaRPr lang="en-US" sz="1800" dirty="0"/>
          </a:p>
          <a:p>
            <a:pPr lvl="1"/>
            <a:r>
              <a:rPr lang="en-US" sz="1800" dirty="0"/>
              <a:t>What are the top database skills in demand?</a:t>
            </a:r>
            <a:endParaRPr lang="en-US" sz="1800" dirty="0"/>
          </a:p>
          <a:p>
            <a:pPr lvl="1"/>
            <a:r>
              <a:rPr lang="en-US" sz="1800" dirty="0"/>
              <a:t>What are the popular IDEs?</a:t>
            </a:r>
            <a:endParaRPr lang="en-US" sz="1800" dirty="0"/>
          </a:p>
          <a:p>
            <a:r>
              <a:rPr lang="en-US" sz="2200" dirty="0"/>
              <a:t>collecting data from various sources and identifying trends for this year's report on emerging skills:</a:t>
            </a:r>
            <a:endParaRPr lang="en-US" sz="2200" dirty="0"/>
          </a:p>
          <a:p>
            <a:pPr lvl="1"/>
            <a:r>
              <a:rPr lang="en-US" sz="1800" dirty="0"/>
              <a:t>Job Postings</a:t>
            </a:r>
            <a:endParaRPr lang="en-US" sz="1800" dirty="0"/>
          </a:p>
          <a:p>
            <a:pPr lvl="1"/>
            <a:r>
              <a:rPr lang="en-US" sz="1800" dirty="0"/>
              <a:t>Training Portals</a:t>
            </a:r>
            <a:endParaRPr lang="en-US" sz="1800" dirty="0"/>
          </a:p>
          <a:p>
            <a:pPr lvl="1"/>
            <a:r>
              <a:rPr lang="en-US" sz="1800" dirty="0"/>
              <a:t>Surveys</a:t>
            </a:r>
            <a:endParaRPr lang="en-US" sz="1800" dirty="0"/>
          </a:p>
          <a:p>
            <a:r>
              <a:rPr lang="en-US" sz="1800" dirty="0"/>
              <a:t>A Data Analyst in a global IT and business consulting services firm that is known for their expertise in IT solutions and their team of highly experienced IT consultants. In order to keep pace with changing technologies and remain competitive, your organization regularly analyzes data to help identify future skill requirements. </a:t>
            </a:r>
            <a:endParaRPr lang="en-US" sz="1800" dirty="0"/>
          </a:p>
          <a:p>
            <a:pPr lvl="1"/>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053" y="376642"/>
            <a:ext cx="7230723" cy="1325563"/>
          </a:xfrm>
        </p:spPr>
        <p:txBody>
          <a:bodyPr anchor="ctr">
            <a:normAutofit/>
          </a:bodyPr>
          <a:lstStyle/>
          <a:p>
            <a:r>
              <a:rPr lang="en-US" dirty="0"/>
              <a:t>METHODOLOGY</a:t>
            </a:r>
            <a:endParaRPr lang="en-US" dirty="0"/>
          </a:p>
        </p:txBody>
      </p:sp>
      <p:sp>
        <p:nvSpPr>
          <p:cNvPr id="3" name="Content Placeholder 2"/>
          <p:cNvSpPr>
            <a:spLocks noGrp="1"/>
          </p:cNvSpPr>
          <p:nvPr>
            <p:ph sz="half" idx="2"/>
          </p:nvPr>
        </p:nvSpPr>
        <p:spPr>
          <a:xfrm>
            <a:off x="4285075" y="1470623"/>
            <a:ext cx="7068725" cy="4919420"/>
          </a:xfrm>
        </p:spPr>
        <p:txBody>
          <a:bodyPr>
            <a:normAutofit fontScale="77500" lnSpcReduction="20000"/>
          </a:bodyPr>
          <a:lstStyle/>
          <a:p>
            <a:pPr marL="457200" indent="-457200">
              <a:buFont typeface="+mj-lt"/>
              <a:buAutoNum type="arabicPeriod"/>
            </a:pPr>
            <a:r>
              <a:rPr lang="en-US" sz="2200" b="1" dirty="0"/>
              <a:t>Data Source: </a:t>
            </a:r>
            <a:r>
              <a:rPr lang="en-US" sz="2200" dirty="0">
                <a:hlinkClick r:id="rId1"/>
              </a:rPr>
              <a:t>Stack Overflow</a:t>
            </a:r>
            <a:r>
              <a:rPr lang="en-US" sz="2200" dirty="0"/>
              <a:t>, Two data is used </a:t>
            </a:r>
            <a:r>
              <a:rPr lang="en-US" sz="2200" dirty="0">
                <a:solidFill>
                  <a:srgbClr val="C00000"/>
                </a:solidFill>
                <a:hlinkClick r:id="rId2"/>
              </a:rPr>
              <a:t>Demographics</a:t>
            </a:r>
            <a:r>
              <a:rPr lang="en-US" sz="2200" dirty="0">
                <a:solidFill>
                  <a:srgbClr val="C00000"/>
                </a:solidFill>
              </a:rPr>
              <a:t> </a:t>
            </a:r>
            <a:r>
              <a:rPr lang="en-US" sz="2200" dirty="0"/>
              <a:t>and </a:t>
            </a:r>
            <a:r>
              <a:rPr lang="en-US" sz="2200" dirty="0">
                <a:solidFill>
                  <a:srgbClr val="C00000"/>
                </a:solidFill>
                <a:hlinkClick r:id="rId3"/>
              </a:rPr>
              <a:t>Survey data technologies</a:t>
            </a:r>
            <a:endParaRPr lang="en-US" sz="2200" dirty="0">
              <a:solidFill>
                <a:srgbClr val="C00000"/>
              </a:solidFill>
            </a:endParaRPr>
          </a:p>
          <a:p>
            <a:pPr marL="457200" indent="-457200">
              <a:buFont typeface="+mj-lt"/>
              <a:buAutoNum type="arabicPeriod"/>
            </a:pPr>
            <a:r>
              <a:rPr lang="en-US" sz="2200" dirty="0"/>
              <a:t>Survey Data technologies was used to analyze the current technology trend and future technology trend:</a:t>
            </a:r>
            <a:endParaRPr lang="en-US" sz="2200" dirty="0"/>
          </a:p>
          <a:p>
            <a:pPr lvl="1"/>
            <a:r>
              <a:rPr lang="en-US" sz="1800" dirty="0"/>
              <a:t>Respondents</a:t>
            </a:r>
            <a:endParaRPr lang="en-US" sz="1800" dirty="0"/>
          </a:p>
          <a:p>
            <a:pPr lvl="1"/>
            <a:r>
              <a:rPr lang="en-US" sz="1800" dirty="0" err="1"/>
              <a:t>LanguageWorked</a:t>
            </a:r>
            <a:r>
              <a:rPr lang="en-US" sz="1800" dirty="0"/>
              <a:t> With, </a:t>
            </a:r>
            <a:r>
              <a:rPr lang="en-US" sz="1800" dirty="0" err="1"/>
              <a:t>DataBaseWorked</a:t>
            </a:r>
            <a:r>
              <a:rPr lang="en-US" sz="1800" dirty="0"/>
              <a:t> With, </a:t>
            </a:r>
            <a:r>
              <a:rPr lang="en-US" sz="1800" dirty="0" err="1"/>
              <a:t>PlatfarmWorked</a:t>
            </a:r>
            <a:r>
              <a:rPr lang="en-US" sz="1800" dirty="0"/>
              <a:t> With, </a:t>
            </a:r>
            <a:r>
              <a:rPr lang="en-US" sz="1800" dirty="0" err="1"/>
              <a:t>WebframeWorked</a:t>
            </a:r>
            <a:r>
              <a:rPr lang="en-US" sz="1800" dirty="0"/>
              <a:t> With</a:t>
            </a:r>
            <a:endParaRPr lang="en-US" sz="1800" dirty="0"/>
          </a:p>
          <a:p>
            <a:pPr lvl="1"/>
            <a:r>
              <a:rPr lang="en-US" sz="1800" dirty="0" err="1"/>
              <a:t>LanguageDesireNextYear</a:t>
            </a:r>
            <a:r>
              <a:rPr lang="en-US" sz="1800" dirty="0"/>
              <a:t>, </a:t>
            </a:r>
            <a:r>
              <a:rPr lang="en-US" sz="1800" dirty="0" err="1"/>
              <a:t>DataBaseDesireNextYear</a:t>
            </a:r>
            <a:r>
              <a:rPr lang="en-US" sz="1800" dirty="0"/>
              <a:t>, </a:t>
            </a:r>
            <a:r>
              <a:rPr lang="en-US" sz="1800" dirty="0" err="1"/>
              <a:t>PlatformDesireNextYear</a:t>
            </a:r>
            <a:r>
              <a:rPr lang="en-US" sz="1800" dirty="0"/>
              <a:t>, </a:t>
            </a:r>
            <a:r>
              <a:rPr lang="en-US" sz="1800" dirty="0" err="1"/>
              <a:t>WebframeDesireNextYear</a:t>
            </a:r>
            <a:r>
              <a:rPr lang="en-US" sz="1800" dirty="0"/>
              <a:t>,</a:t>
            </a:r>
            <a:endParaRPr lang="en-US" sz="1800" dirty="0"/>
          </a:p>
          <a:p>
            <a:pPr marL="457200" indent="-457200">
              <a:buFont typeface="+mj-lt"/>
              <a:buAutoNum type="arabicPeriod"/>
            </a:pPr>
            <a:r>
              <a:rPr lang="en-US" sz="2200" dirty="0"/>
              <a:t>Demographic data was used for demographic data:</a:t>
            </a:r>
            <a:endParaRPr lang="en-US" sz="2200" dirty="0"/>
          </a:p>
          <a:p>
            <a:pPr lvl="1"/>
            <a:r>
              <a:rPr lang="en-US" sz="1800" dirty="0"/>
              <a:t>Man and woman</a:t>
            </a:r>
            <a:endParaRPr lang="en-US" sz="1800" dirty="0"/>
          </a:p>
          <a:p>
            <a:pPr lvl="1"/>
            <a:r>
              <a:rPr lang="en-US" sz="1800" dirty="0"/>
              <a:t>Age </a:t>
            </a:r>
            <a:endParaRPr lang="en-US" sz="1800" dirty="0"/>
          </a:p>
          <a:p>
            <a:pPr lvl="1"/>
            <a:r>
              <a:rPr lang="en-US" sz="1800" dirty="0"/>
              <a:t>Formal education level and Countries </a:t>
            </a:r>
            <a:endParaRPr lang="en-US" sz="1800" dirty="0"/>
          </a:p>
          <a:p>
            <a:pPr marL="457200" indent="-457200">
              <a:buFont typeface="+mj-lt"/>
              <a:buAutoNum type="arabicPeriod"/>
            </a:pPr>
            <a:r>
              <a:rPr lang="en-US" sz="2200" dirty="0"/>
              <a:t>Data is </a:t>
            </a:r>
            <a:r>
              <a:rPr lang="en-US" sz="2200" dirty="0">
                <a:solidFill>
                  <a:srgbClr val="FF0000"/>
                </a:solidFill>
              </a:rPr>
              <a:t>filtered</a:t>
            </a:r>
            <a:r>
              <a:rPr lang="en-US" sz="2200" dirty="0"/>
              <a:t> with: </a:t>
            </a:r>
            <a:endParaRPr lang="en-US" sz="2200" dirty="0"/>
          </a:p>
          <a:p>
            <a:pPr lvl="1"/>
            <a:r>
              <a:rPr lang="en-US" sz="1800" dirty="0" err="1"/>
              <a:t>NoValue</a:t>
            </a:r>
            <a:r>
              <a:rPr lang="en-US" sz="1800" dirty="0"/>
              <a:t> or null is cleaned </a:t>
            </a:r>
            <a:endParaRPr lang="en-US" sz="1800" dirty="0"/>
          </a:p>
          <a:p>
            <a:pPr lvl="1"/>
            <a:r>
              <a:rPr lang="en-US" sz="1800" dirty="0"/>
              <a:t>Demographic: man and woman only</a:t>
            </a:r>
            <a:endParaRPr lang="en-US" sz="1800" dirty="0"/>
          </a:p>
          <a:p>
            <a:pPr lvl="1"/>
            <a:endParaRPr lang="en-US" sz="1800" dirty="0"/>
          </a:p>
          <a:p>
            <a:pPr marL="457200" indent="-457200">
              <a:buFont typeface="+mj-lt"/>
              <a:buAutoNum type="arabicPeriod"/>
            </a:pPr>
            <a:r>
              <a:rPr lang="en-US" sz="2200" dirty="0"/>
              <a:t>Illustration of the data is used as follows:</a:t>
            </a:r>
            <a:endParaRPr lang="en-US" sz="2200" dirty="0"/>
          </a:p>
          <a:p>
            <a:pPr lvl="1"/>
            <a:r>
              <a:rPr lang="en-US" sz="1800" dirty="0"/>
              <a:t>Python libraries: </a:t>
            </a:r>
            <a:r>
              <a:rPr lang="en-US" sz="1800" dirty="0" err="1"/>
              <a:t>Numpy</a:t>
            </a:r>
            <a:r>
              <a:rPr lang="en-US" sz="1800" dirty="0"/>
              <a:t>, Matplotlib, </a:t>
            </a:r>
            <a:r>
              <a:rPr lang="en-US" sz="1800" dirty="0" err="1"/>
              <a:t>Pandas,Seaborn</a:t>
            </a:r>
            <a:endParaRPr lang="en-US" sz="1800" dirty="0"/>
          </a:p>
          <a:p>
            <a:pPr lvl="1"/>
            <a:r>
              <a:rPr lang="en-US" sz="1800" dirty="0"/>
              <a:t>IBM Cognos Analytics Dashboard </a:t>
            </a:r>
            <a:endParaRPr lang="en-US" sz="1800" dirty="0"/>
          </a:p>
          <a:p>
            <a:pPr lvl="1"/>
            <a:r>
              <a:rPr lang="en-US" sz="1800" dirty="0" err="1"/>
              <a:t>Jupyternotebook</a:t>
            </a:r>
            <a:r>
              <a:rPr lang="en-US" sz="1800" dirty="0"/>
              <a:t> for Data Cleaning and Data Science Analysis</a:t>
            </a:r>
            <a:endParaRPr lang="en-US" sz="1800" dirty="0"/>
          </a:p>
          <a:p>
            <a:endParaRPr lang="en-US" sz="2200" dirty="0"/>
          </a:p>
          <a:p>
            <a:endParaRPr lang="en-US" sz="2200" dirty="0"/>
          </a:p>
        </p:txBody>
      </p:sp>
      <p:pic>
        <p:nvPicPr>
          <p:cNvPr id="5" name="Picture 4"/>
          <p:cNvPicPr>
            <a:picLocks noChangeAspect="1"/>
          </p:cNvPicPr>
          <p:nvPr/>
        </p:nvPicPr>
        <p:blipFill>
          <a:blip r:embed="rId4"/>
          <a:stretch>
            <a:fillRect/>
          </a:stretch>
        </p:blipFill>
        <p:spPr>
          <a:xfrm>
            <a:off x="979655" y="1831709"/>
            <a:ext cx="3194581" cy="319458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RESULTS</a:t>
            </a:r>
            <a:endParaRPr lang="en-US" dirty="0"/>
          </a:p>
        </p:txBody>
      </p:sp>
      <p:sp>
        <p:nvSpPr>
          <p:cNvPr id="3" name="Content Placeholder 2"/>
          <p:cNvSpPr>
            <a:spLocks noGrp="1"/>
          </p:cNvSpPr>
          <p:nvPr>
            <p:ph sz="half" idx="2"/>
          </p:nvPr>
        </p:nvSpPr>
        <p:spPr>
          <a:xfrm>
            <a:off x="1043114" y="1825625"/>
            <a:ext cx="7068725" cy="4351338"/>
          </a:xfrm>
        </p:spPr>
        <p:txBody>
          <a:bodyPr>
            <a:normAutofit/>
          </a:bodyPr>
          <a:lstStyle/>
          <a:p>
            <a:pPr marL="0" indent="0">
              <a:buNone/>
            </a:pPr>
            <a:endParaRPr lang="en-US" sz="1800" dirty="0"/>
          </a:p>
          <a:p>
            <a:pPr marL="0" indent="0">
              <a:buNone/>
            </a:pPr>
            <a:endParaRPr lang="en-US" sz="1800" dirty="0"/>
          </a:p>
          <a:p>
            <a:pPr marL="0" indent="0">
              <a:buNone/>
            </a:pPr>
            <a:endParaRPr lang="en-US" sz="1800" dirty="0"/>
          </a:p>
        </p:txBody>
      </p:sp>
      <p:sp>
        <p:nvSpPr>
          <p:cNvPr id="4" name="TextBox 3"/>
          <p:cNvSpPr txBox="1"/>
          <p:nvPr/>
        </p:nvSpPr>
        <p:spPr>
          <a:xfrm>
            <a:off x="1043113" y="1543049"/>
            <a:ext cx="10205911" cy="4154984"/>
          </a:xfrm>
          <a:prstGeom prst="rect">
            <a:avLst/>
          </a:prstGeom>
          <a:noFill/>
        </p:spPr>
        <p:txBody>
          <a:bodyPr wrap="square" rtlCol="0">
            <a:spAutoFit/>
          </a:bodyPr>
          <a:lstStyle/>
          <a:p>
            <a:r>
              <a:rPr lang="en-US" sz="2400" dirty="0"/>
              <a:t>The Results shown as follows are the analysis comparing the graphs between the current technology usage and Future technology usage. </a:t>
            </a:r>
            <a:endParaRPr lang="en-US" sz="2400" dirty="0"/>
          </a:p>
          <a:p>
            <a:endParaRPr lang="en-US" dirty="0"/>
          </a:p>
          <a:p>
            <a:r>
              <a:rPr lang="en-US" b="1" u="sng" dirty="0"/>
              <a:t>Results as follows:</a:t>
            </a:r>
            <a:endParaRPr lang="en-US" b="1" u="sng" dirty="0"/>
          </a:p>
          <a:p>
            <a:pPr marL="342900" indent="-342900">
              <a:buAutoNum type="arabicPeriod"/>
            </a:pPr>
            <a:r>
              <a:rPr lang="en-US" sz="3600" b="1" dirty="0"/>
              <a:t>Programming Language trends</a:t>
            </a:r>
            <a:endParaRPr lang="en-US" sz="3600" b="1" dirty="0"/>
          </a:p>
          <a:p>
            <a:pPr marL="742950" indent="-742950">
              <a:buFont typeface="+mj-lt"/>
              <a:buAutoNum type="arabicPeriod"/>
            </a:pPr>
            <a:endParaRPr lang="en-US" sz="3600" b="1" dirty="0"/>
          </a:p>
          <a:p>
            <a:pPr marL="342900" indent="-342900">
              <a:buAutoNum type="arabicPeriod"/>
            </a:pPr>
            <a:r>
              <a:rPr lang="en-US" sz="3600" b="1" dirty="0" err="1"/>
              <a:t>DataBase</a:t>
            </a:r>
            <a:r>
              <a:rPr lang="en-US" sz="3600" b="1" dirty="0"/>
              <a:t> trends</a:t>
            </a:r>
            <a:endParaRPr lang="en-US" sz="3600" b="1" dirty="0"/>
          </a:p>
          <a:p>
            <a:pPr marL="742950" indent="-742950">
              <a:buFont typeface="+mj-lt"/>
              <a:buAutoNum type="arabicPeriod"/>
            </a:pPr>
            <a:endParaRPr lang="en-US" sz="3600" b="1" dirty="0"/>
          </a:p>
          <a:p>
            <a:pPr marL="342900" indent="-342900">
              <a:buAutoNum type="arabicPeriod"/>
            </a:pPr>
            <a:r>
              <a:rPr lang="en-US" sz="3600" b="1" dirty="0"/>
              <a:t>IDEs trends</a:t>
            </a:r>
            <a:endParaRPr lang="en-US" sz="3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PROGRAMMING LANGUAGE TRENDS</a:t>
            </a:r>
            <a:endParaRPr lang="en-US" dirty="0"/>
          </a:p>
        </p:txBody>
      </p:sp>
      <p:sp>
        <p:nvSpPr>
          <p:cNvPr id="3" name="Content Placeholder 2"/>
          <p:cNvSpPr>
            <a:spLocks noGrp="1"/>
          </p:cNvSpPr>
          <p:nvPr>
            <p:ph sz="half" idx="1"/>
          </p:nvPr>
        </p:nvSpPr>
        <p:spPr>
          <a:xfrm>
            <a:off x="813816" y="1825625"/>
            <a:ext cx="2228642" cy="501939"/>
          </a:xfrm>
        </p:spPr>
        <p:txBody>
          <a:bodyPr/>
          <a:lstStyle/>
          <a:p>
            <a:pPr marL="0" indent="0">
              <a:buNone/>
            </a:pPr>
            <a:r>
              <a:rPr lang="en-US" dirty="0"/>
              <a:t>Current Year</a:t>
            </a:r>
            <a:endParaRPr lang="en-US" dirty="0"/>
          </a:p>
        </p:txBody>
      </p:sp>
      <p:sp>
        <p:nvSpPr>
          <p:cNvPr id="4" name="Content Placeholder 3"/>
          <p:cNvSpPr>
            <a:spLocks noGrp="1"/>
          </p:cNvSpPr>
          <p:nvPr>
            <p:ph sz="half" idx="2"/>
          </p:nvPr>
        </p:nvSpPr>
        <p:spPr>
          <a:xfrm>
            <a:off x="6172200" y="1825625"/>
            <a:ext cx="1758142" cy="501939"/>
          </a:xfrm>
        </p:spPr>
        <p:txBody>
          <a:bodyPr/>
          <a:lstStyle/>
          <a:p>
            <a:pPr marL="0" indent="0">
              <a:buNone/>
            </a:pPr>
            <a:r>
              <a:rPr lang="en-US" dirty="0"/>
              <a:t>Next Year</a:t>
            </a:r>
            <a:endParaRPr lang="en-US" dirty="0"/>
          </a:p>
        </p:txBody>
      </p:sp>
      <p:sp>
        <p:nvSpPr>
          <p:cNvPr id="8" name="Content Placeholder 2"/>
          <p:cNvSpPr txBox="1"/>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endParaRPr lang="en-US" sz="2200" dirty="0"/>
          </a:p>
        </p:txBody>
      </p:sp>
      <p:sp>
        <p:nvSpPr>
          <p:cNvPr id="10" name="Content Placeholder 2"/>
          <p:cNvSpPr txBox="1"/>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200" dirty="0"/>
              <a:t>&lt; Bar chart of top 5 programming languages for the next year goes here.&gt;</a:t>
            </a:r>
            <a:endParaRPr lang="en-US" sz="2200" dirty="0"/>
          </a:p>
        </p:txBody>
      </p:sp>
      <p:pic>
        <p:nvPicPr>
          <p:cNvPr id="11" name="Picture 10"/>
          <p:cNvPicPr>
            <a:picLocks noChangeAspect="1"/>
          </p:cNvPicPr>
          <p:nvPr/>
        </p:nvPicPr>
        <p:blipFill rotWithShape="1">
          <a:blip r:embed="rId1"/>
          <a:srcRect l="6050" t="6779" r="50625" b="47927"/>
          <a:stretch>
            <a:fillRect/>
          </a:stretch>
        </p:blipFill>
        <p:spPr>
          <a:xfrm>
            <a:off x="813815" y="2506661"/>
            <a:ext cx="5282184" cy="2873292"/>
          </a:xfrm>
          <a:prstGeom prst="rect">
            <a:avLst/>
          </a:prstGeom>
        </p:spPr>
      </p:pic>
      <p:pic>
        <p:nvPicPr>
          <p:cNvPr id="13" name="Picture 12"/>
          <p:cNvPicPr>
            <a:picLocks noChangeAspect="1"/>
          </p:cNvPicPr>
          <p:nvPr/>
        </p:nvPicPr>
        <p:blipFill rotWithShape="1">
          <a:blip r:embed="rId2"/>
          <a:srcRect l="7782" t="6876" r="49702" b="48484"/>
          <a:stretch>
            <a:fillRect/>
          </a:stretch>
        </p:blipFill>
        <p:spPr>
          <a:xfrm>
            <a:off x="6095999" y="2506661"/>
            <a:ext cx="5205985" cy="29174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PROGRAMMING LANGUAGE TRENDS - FINDINGS &amp; IMPLICATIONS</a:t>
            </a:r>
            <a:endParaRPr lang="en-US" sz="2800" dirty="0"/>
          </a:p>
        </p:txBody>
      </p:sp>
      <p:sp>
        <p:nvSpPr>
          <p:cNvPr id="3" name="Content Placeholder 2"/>
          <p:cNvSpPr>
            <a:spLocks noGrp="1"/>
          </p:cNvSpPr>
          <p:nvPr>
            <p:ph sz="half" idx="1"/>
          </p:nvPr>
        </p:nvSpPr>
        <p:spPr>
          <a:xfrm>
            <a:off x="813816" y="1825625"/>
            <a:ext cx="5181600" cy="4351338"/>
          </a:xfrm>
        </p:spPr>
        <p:txBody>
          <a:bodyPr>
            <a:normAutofit fontScale="92500" lnSpcReduction="20000"/>
          </a:bodyPr>
          <a:lstStyle/>
          <a:p>
            <a:pPr marL="0" indent="0">
              <a:buNone/>
            </a:pPr>
            <a:r>
              <a:rPr lang="en-US" dirty="0"/>
              <a:t>Findings:</a:t>
            </a:r>
            <a:endParaRPr lang="en-US" dirty="0"/>
          </a:p>
          <a:p>
            <a:pPr marL="0" indent="0">
              <a:buNone/>
            </a:pPr>
            <a:endParaRPr lang="en-US" dirty="0"/>
          </a:p>
          <a:p>
            <a:r>
              <a:rPr lang="en-US" dirty="0">
                <a:highlight>
                  <a:srgbClr val="FFFF00"/>
                </a:highlight>
              </a:rPr>
              <a:t>JavaScript</a:t>
            </a:r>
            <a:r>
              <a:rPr lang="en-US" dirty="0"/>
              <a:t> is the top most demanded for current and future programming language. </a:t>
            </a:r>
            <a:endParaRPr lang="en-US" dirty="0"/>
          </a:p>
          <a:p>
            <a:r>
              <a:rPr lang="en-US" dirty="0"/>
              <a:t>Significantly Increasing desire for </a:t>
            </a:r>
            <a:r>
              <a:rPr lang="en-US" dirty="0">
                <a:highlight>
                  <a:srgbClr val="FFFF00"/>
                </a:highlight>
              </a:rPr>
              <a:t>Python</a:t>
            </a:r>
            <a:endParaRPr lang="en-US" dirty="0">
              <a:highlight>
                <a:srgbClr val="FFFF00"/>
              </a:highlight>
            </a:endParaRPr>
          </a:p>
          <a:p>
            <a:r>
              <a:rPr lang="en-US" dirty="0"/>
              <a:t>The trends of programming language has shifted</a:t>
            </a:r>
            <a:endParaRPr lang="en-US" dirty="0"/>
          </a:p>
          <a:p>
            <a:r>
              <a:rPr lang="en-US" dirty="0"/>
              <a:t>Top 5 language are:</a:t>
            </a:r>
            <a:endParaRPr lang="en-US" dirty="0"/>
          </a:p>
          <a:p>
            <a:pPr lvl="1"/>
            <a:r>
              <a:rPr lang="en-US" dirty="0" err="1"/>
              <a:t>JaveScript</a:t>
            </a:r>
            <a:r>
              <a:rPr lang="en-US" dirty="0"/>
              <a:t>, </a:t>
            </a:r>
            <a:r>
              <a:rPr lang="en-US" dirty="0" err="1"/>
              <a:t>Python,HTML,SQL</a:t>
            </a:r>
            <a:r>
              <a:rPr lang="en-US" dirty="0"/>
              <a:t>, TypeScript</a:t>
            </a:r>
            <a:endParaRPr lang="en-US" dirty="0"/>
          </a:p>
        </p:txBody>
      </p:sp>
      <p:sp>
        <p:nvSpPr>
          <p:cNvPr id="4" name="Content Placeholder 3"/>
          <p:cNvSpPr>
            <a:spLocks noGrp="1"/>
          </p:cNvSpPr>
          <p:nvPr>
            <p:ph sz="half" idx="2"/>
          </p:nvPr>
        </p:nvSpPr>
        <p:spPr/>
        <p:txBody>
          <a:bodyPr>
            <a:normAutofit fontScale="92500" lnSpcReduction="20000"/>
          </a:bodyPr>
          <a:lstStyle/>
          <a:p>
            <a:pPr marL="0" indent="0">
              <a:buNone/>
            </a:pPr>
            <a:r>
              <a:rPr lang="en-US" dirty="0"/>
              <a:t>Implications:</a:t>
            </a:r>
            <a:endParaRPr lang="en-US" dirty="0"/>
          </a:p>
          <a:p>
            <a:pPr marL="0" indent="0">
              <a:buNone/>
            </a:pPr>
            <a:endParaRPr lang="en-US" dirty="0"/>
          </a:p>
          <a:p>
            <a:r>
              <a:rPr lang="en-US" dirty="0">
                <a:highlight>
                  <a:srgbClr val="FFFF00"/>
                </a:highlight>
              </a:rPr>
              <a:t>JavaScript</a:t>
            </a:r>
            <a:r>
              <a:rPr lang="en-US" dirty="0"/>
              <a:t> is still most popular and widely used in programming language in IT industry.</a:t>
            </a:r>
            <a:endParaRPr lang="en-US" dirty="0"/>
          </a:p>
          <a:p>
            <a:r>
              <a:rPr lang="en-US" dirty="0">
                <a:highlight>
                  <a:srgbClr val="FFFF00"/>
                </a:highlight>
              </a:rPr>
              <a:t>Python</a:t>
            </a:r>
            <a:r>
              <a:rPr lang="en-US" dirty="0"/>
              <a:t> has become a new desired and required skills in IT industry.</a:t>
            </a:r>
            <a:endParaRPr lang="en-US" dirty="0"/>
          </a:p>
          <a:p>
            <a:r>
              <a:rPr lang="en-US" dirty="0">
                <a:highlight>
                  <a:srgbClr val="FFFF00"/>
                </a:highlight>
              </a:rPr>
              <a:t>JavaScript, Python, HTML/CSS,SQL, TypeScript</a:t>
            </a:r>
            <a:r>
              <a:rPr lang="en-US" dirty="0"/>
              <a:t> are the top 5 most desired skills.</a:t>
            </a:r>
            <a:endParaRPr lang="en-US" dirty="0"/>
          </a:p>
          <a:p>
            <a:r>
              <a:rPr lang="en-US" dirty="0"/>
              <a:t>The Desire Skill for programming language has certainly Shifted.</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584" y="428768"/>
            <a:ext cx="10515600" cy="1325563"/>
          </a:xfrm>
        </p:spPr>
        <p:txBody>
          <a:bodyPr/>
          <a:lstStyle/>
          <a:p>
            <a:r>
              <a:rPr lang="en-US" dirty="0"/>
              <a:t>DATABASE TRENDS</a:t>
            </a:r>
            <a:endParaRPr lang="en-US" dirty="0"/>
          </a:p>
        </p:txBody>
      </p:sp>
      <p:sp>
        <p:nvSpPr>
          <p:cNvPr id="3" name="Content Placeholder 2"/>
          <p:cNvSpPr>
            <a:spLocks noGrp="1"/>
          </p:cNvSpPr>
          <p:nvPr>
            <p:ph sz="half" idx="1"/>
          </p:nvPr>
        </p:nvSpPr>
        <p:spPr>
          <a:xfrm>
            <a:off x="813816" y="1825625"/>
            <a:ext cx="2228642" cy="501939"/>
          </a:xfrm>
        </p:spPr>
        <p:txBody>
          <a:bodyPr/>
          <a:lstStyle/>
          <a:p>
            <a:pPr marL="0" indent="0">
              <a:buNone/>
            </a:pPr>
            <a:r>
              <a:rPr lang="en-US" dirty="0"/>
              <a:t>Current Year</a:t>
            </a:r>
            <a:endParaRPr lang="en-US" dirty="0"/>
          </a:p>
        </p:txBody>
      </p:sp>
      <p:sp>
        <p:nvSpPr>
          <p:cNvPr id="4" name="Content Placeholder 3"/>
          <p:cNvSpPr>
            <a:spLocks noGrp="1"/>
          </p:cNvSpPr>
          <p:nvPr>
            <p:ph sz="half" idx="2"/>
          </p:nvPr>
        </p:nvSpPr>
        <p:spPr>
          <a:xfrm>
            <a:off x="6172200" y="1825625"/>
            <a:ext cx="1758142" cy="501939"/>
          </a:xfrm>
        </p:spPr>
        <p:txBody>
          <a:bodyPr/>
          <a:lstStyle/>
          <a:p>
            <a:pPr marL="0" indent="0">
              <a:buNone/>
            </a:pPr>
            <a:r>
              <a:rPr lang="en-US" dirty="0"/>
              <a:t>Next Year</a:t>
            </a:r>
            <a:endParaRPr lang="en-US" dirty="0"/>
          </a:p>
        </p:txBody>
      </p:sp>
      <p:sp>
        <p:nvSpPr>
          <p:cNvPr id="8" name="Content Placeholder 2"/>
          <p:cNvSpPr txBox="1"/>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200" dirty="0"/>
              <a:t>&lt; Bar chart of top 5 databases for the current year goes here &gt;</a:t>
            </a:r>
            <a:endParaRPr lang="en-US" sz="2200" dirty="0"/>
          </a:p>
        </p:txBody>
      </p:sp>
      <p:sp>
        <p:nvSpPr>
          <p:cNvPr id="10" name="Content Placeholder 2"/>
          <p:cNvSpPr txBox="1"/>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200" dirty="0"/>
              <a:t>&lt; Bar chart of top 5 databases for the next year goes here.&gt;</a:t>
            </a:r>
            <a:endParaRPr lang="en-US" sz="2200" dirty="0"/>
          </a:p>
        </p:txBody>
      </p:sp>
      <p:pic>
        <p:nvPicPr>
          <p:cNvPr id="6" name="Picture 5"/>
          <p:cNvPicPr>
            <a:picLocks noChangeAspect="1"/>
          </p:cNvPicPr>
          <p:nvPr/>
        </p:nvPicPr>
        <p:blipFill rotWithShape="1">
          <a:blip r:embed="rId1"/>
          <a:srcRect l="49291" t="6249" r="7142" b="47384"/>
          <a:stretch>
            <a:fillRect/>
          </a:stretch>
        </p:blipFill>
        <p:spPr>
          <a:xfrm>
            <a:off x="813816" y="2327564"/>
            <a:ext cx="5282184" cy="2931591"/>
          </a:xfrm>
          <a:prstGeom prst="rect">
            <a:avLst/>
          </a:prstGeom>
        </p:spPr>
      </p:pic>
      <p:pic>
        <p:nvPicPr>
          <p:cNvPr id="9" name="Picture 8"/>
          <p:cNvPicPr>
            <a:picLocks noChangeAspect="1"/>
          </p:cNvPicPr>
          <p:nvPr/>
        </p:nvPicPr>
        <p:blipFill rotWithShape="1">
          <a:blip r:embed="rId2"/>
          <a:srcRect l="50157" t="7065" r="6875" b="48131"/>
          <a:stretch>
            <a:fillRect/>
          </a:stretch>
        </p:blipFill>
        <p:spPr>
          <a:xfrm>
            <a:off x="6096000" y="2327564"/>
            <a:ext cx="5391196" cy="29315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TRENDS - FINDINGS &amp; IMPLICATIONS</a:t>
            </a:r>
            <a:endParaRPr lang="en-US" dirty="0"/>
          </a:p>
        </p:txBody>
      </p:sp>
      <p:sp>
        <p:nvSpPr>
          <p:cNvPr id="3" name="Content Placeholder 2"/>
          <p:cNvSpPr>
            <a:spLocks noGrp="1"/>
          </p:cNvSpPr>
          <p:nvPr>
            <p:ph sz="half" idx="1"/>
          </p:nvPr>
        </p:nvSpPr>
        <p:spPr>
          <a:xfrm>
            <a:off x="813816" y="1539875"/>
            <a:ext cx="5181600" cy="4351338"/>
          </a:xfrm>
        </p:spPr>
        <p:txBody>
          <a:bodyPr>
            <a:normAutofit fontScale="85000" lnSpcReduction="20000"/>
          </a:bodyPr>
          <a:lstStyle/>
          <a:p>
            <a:pPr marL="0" indent="0">
              <a:buNone/>
            </a:pPr>
            <a:r>
              <a:rPr lang="en-US" dirty="0"/>
              <a:t>Findings:</a:t>
            </a:r>
            <a:endParaRPr lang="en-US" dirty="0"/>
          </a:p>
          <a:p>
            <a:pPr marL="0" indent="0">
              <a:buNone/>
            </a:pPr>
            <a:endParaRPr lang="en-US" dirty="0"/>
          </a:p>
          <a:p>
            <a:r>
              <a:rPr lang="en-US" dirty="0" err="1">
                <a:highlight>
                  <a:srgbClr val="FFFF00"/>
                </a:highlight>
              </a:rPr>
              <a:t>PostgreSQL,MongoDB</a:t>
            </a:r>
            <a:r>
              <a:rPr lang="en-US" dirty="0">
                <a:highlight>
                  <a:srgbClr val="FFFF00"/>
                </a:highlight>
              </a:rPr>
              <a:t>, Redis </a:t>
            </a:r>
            <a:r>
              <a:rPr lang="en-US" dirty="0"/>
              <a:t>have become the most desired Database.</a:t>
            </a:r>
            <a:endParaRPr lang="en-US" dirty="0"/>
          </a:p>
          <a:p>
            <a:r>
              <a:rPr lang="en-US" dirty="0">
                <a:highlight>
                  <a:srgbClr val="FFFF00"/>
                </a:highlight>
              </a:rPr>
              <a:t>MongoDB, Redis, Elasticsearch </a:t>
            </a:r>
            <a:r>
              <a:rPr lang="en-US" dirty="0"/>
              <a:t>are becoming increasingly popular for </a:t>
            </a:r>
            <a:r>
              <a:rPr lang="en-US" dirty="0" err="1"/>
              <a:t>desiredDatabased</a:t>
            </a:r>
            <a:r>
              <a:rPr lang="en-US" dirty="0"/>
              <a:t> roughly 10,000 increased in </a:t>
            </a:r>
            <a:r>
              <a:rPr lang="en-US" dirty="0" err="1"/>
              <a:t>respondants</a:t>
            </a:r>
            <a:r>
              <a:rPr lang="en-US" dirty="0"/>
              <a:t>.</a:t>
            </a:r>
            <a:endParaRPr lang="en-US" dirty="0"/>
          </a:p>
          <a:p>
            <a:r>
              <a:rPr lang="en-US" dirty="0"/>
              <a:t>Oracle Database has become less popular and less desired</a:t>
            </a:r>
            <a:endParaRPr lang="en-US" dirty="0"/>
          </a:p>
          <a:p>
            <a:r>
              <a:rPr lang="en-US" dirty="0"/>
              <a:t>Drastic increase in the desire database skills especially for </a:t>
            </a:r>
            <a:r>
              <a:rPr lang="en-US" dirty="0" err="1"/>
              <a:t>MongoBD</a:t>
            </a:r>
            <a:r>
              <a:rPr lang="en-US" dirty="0"/>
              <a:t> and </a:t>
            </a:r>
            <a:r>
              <a:rPr lang="en-US" dirty="0" err="1"/>
              <a:t>DynamoBD</a:t>
            </a:r>
            <a:endParaRPr lang="en-US" dirty="0"/>
          </a:p>
        </p:txBody>
      </p:sp>
      <p:sp>
        <p:nvSpPr>
          <p:cNvPr id="4" name="Content Placeholder 3"/>
          <p:cNvSpPr>
            <a:spLocks noGrp="1"/>
          </p:cNvSpPr>
          <p:nvPr>
            <p:ph sz="half" idx="2"/>
          </p:nvPr>
        </p:nvSpPr>
        <p:spPr>
          <a:xfrm>
            <a:off x="6096000" y="1539875"/>
            <a:ext cx="5181600" cy="4351338"/>
          </a:xfrm>
        </p:spPr>
        <p:txBody>
          <a:bodyPr>
            <a:normAutofit fontScale="85000" lnSpcReduction="20000"/>
          </a:bodyPr>
          <a:lstStyle/>
          <a:p>
            <a:pPr marL="0" indent="0">
              <a:buNone/>
            </a:pPr>
            <a:r>
              <a:rPr lang="en-US" dirty="0"/>
              <a:t>Implications:</a:t>
            </a:r>
            <a:endParaRPr lang="en-US" dirty="0"/>
          </a:p>
          <a:p>
            <a:pPr marL="0" indent="0">
              <a:buNone/>
            </a:pPr>
            <a:endParaRPr lang="en-US" dirty="0"/>
          </a:p>
          <a:p>
            <a:r>
              <a:rPr lang="en-US" dirty="0">
                <a:highlight>
                  <a:srgbClr val="FFFF00"/>
                </a:highlight>
              </a:rPr>
              <a:t>PostgreSQL, </a:t>
            </a:r>
            <a:r>
              <a:rPr lang="en-US" dirty="0" err="1">
                <a:highlight>
                  <a:srgbClr val="FFFF00"/>
                </a:highlight>
              </a:rPr>
              <a:t>MongoDB,Redis,MySQL,Elasticsearch</a:t>
            </a:r>
            <a:r>
              <a:rPr lang="en-US" dirty="0">
                <a:highlight>
                  <a:srgbClr val="FFFF00"/>
                </a:highlight>
              </a:rPr>
              <a:t> </a:t>
            </a:r>
            <a:r>
              <a:rPr lang="en-US" dirty="0"/>
              <a:t>are the desired and most used Database.</a:t>
            </a:r>
            <a:endParaRPr lang="en-US" dirty="0"/>
          </a:p>
          <a:p>
            <a:r>
              <a:rPr lang="en-US" dirty="0" err="1">
                <a:highlight>
                  <a:srgbClr val="FFFF00"/>
                </a:highlight>
              </a:rPr>
              <a:t>MongoDb</a:t>
            </a:r>
            <a:r>
              <a:rPr lang="en-US" dirty="0">
                <a:highlight>
                  <a:srgbClr val="FFFF00"/>
                </a:highlight>
              </a:rPr>
              <a:t>, </a:t>
            </a:r>
            <a:r>
              <a:rPr lang="en-US" dirty="0" err="1">
                <a:highlight>
                  <a:srgbClr val="FFFF00"/>
                </a:highlight>
              </a:rPr>
              <a:t>Redis,Elasticsearch</a:t>
            </a:r>
            <a:r>
              <a:rPr lang="en-US" dirty="0">
                <a:highlight>
                  <a:srgbClr val="FFFF00"/>
                </a:highlight>
              </a:rPr>
              <a:t> </a:t>
            </a:r>
            <a:r>
              <a:rPr lang="en-US" dirty="0"/>
              <a:t>have new and better functionalities or services.</a:t>
            </a:r>
            <a:endParaRPr lang="en-US" dirty="0"/>
          </a:p>
          <a:p>
            <a:r>
              <a:rPr lang="en-US" dirty="0">
                <a:highlight>
                  <a:srgbClr val="FF0000"/>
                </a:highlight>
              </a:rPr>
              <a:t>Oracle </a:t>
            </a:r>
            <a:r>
              <a:rPr lang="en-US" dirty="0"/>
              <a:t>Database is to avoid</a:t>
            </a:r>
            <a:endParaRPr lang="en-US" dirty="0"/>
          </a:p>
          <a:p>
            <a:r>
              <a:rPr lang="en-US" dirty="0"/>
              <a:t>Usage of </a:t>
            </a:r>
            <a:r>
              <a:rPr lang="en-US" dirty="0" err="1"/>
              <a:t>DynamoBD</a:t>
            </a:r>
            <a:r>
              <a:rPr lang="en-US" dirty="0"/>
              <a:t> more research may needed.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2584" y="428768"/>
            <a:ext cx="10515600" cy="1325563"/>
          </a:xfrm>
        </p:spPr>
        <p:txBody>
          <a:bodyPr/>
          <a:lstStyle/>
          <a:p>
            <a:r>
              <a:rPr lang="en-US" dirty="0"/>
              <a:t>IDE TRENDS</a:t>
            </a:r>
            <a:endParaRPr lang="en-US" dirty="0"/>
          </a:p>
        </p:txBody>
      </p:sp>
      <p:sp>
        <p:nvSpPr>
          <p:cNvPr id="3" name="Content Placeholder 2"/>
          <p:cNvSpPr>
            <a:spLocks noGrp="1"/>
          </p:cNvSpPr>
          <p:nvPr>
            <p:ph sz="half" idx="1"/>
          </p:nvPr>
        </p:nvSpPr>
        <p:spPr>
          <a:xfrm>
            <a:off x="813816" y="1825625"/>
            <a:ext cx="2228642" cy="501939"/>
          </a:xfrm>
        </p:spPr>
        <p:txBody>
          <a:bodyPr/>
          <a:lstStyle/>
          <a:p>
            <a:pPr marL="0" indent="0">
              <a:buNone/>
            </a:pPr>
            <a:r>
              <a:rPr lang="en-US" dirty="0"/>
              <a:t>Current Year</a:t>
            </a:r>
            <a:endParaRPr lang="en-US" dirty="0"/>
          </a:p>
        </p:txBody>
      </p:sp>
      <p:sp>
        <p:nvSpPr>
          <p:cNvPr id="4" name="Content Placeholder 3"/>
          <p:cNvSpPr>
            <a:spLocks noGrp="1"/>
          </p:cNvSpPr>
          <p:nvPr>
            <p:ph sz="half" idx="2"/>
          </p:nvPr>
        </p:nvSpPr>
        <p:spPr>
          <a:xfrm>
            <a:off x="6172200" y="1825625"/>
            <a:ext cx="1758142" cy="501939"/>
          </a:xfrm>
        </p:spPr>
        <p:txBody>
          <a:bodyPr/>
          <a:lstStyle/>
          <a:p>
            <a:pPr marL="0" indent="0">
              <a:buNone/>
            </a:pPr>
            <a:r>
              <a:rPr lang="en-US" dirty="0"/>
              <a:t>Next Year</a:t>
            </a:r>
            <a:endParaRPr lang="en-US" dirty="0"/>
          </a:p>
        </p:txBody>
      </p:sp>
      <p:sp>
        <p:nvSpPr>
          <p:cNvPr id="8" name="Content Placeholder 2"/>
          <p:cNvSpPr txBox="1"/>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200" dirty="0"/>
              <a:t>&lt; Bar chart of top 5 databases for the current year goes here &gt;</a:t>
            </a:r>
            <a:endParaRPr lang="en-US" sz="2200" dirty="0"/>
          </a:p>
        </p:txBody>
      </p:sp>
      <p:sp>
        <p:nvSpPr>
          <p:cNvPr id="10" name="Content Placeholder 2"/>
          <p:cNvSpPr txBox="1"/>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a:lstStyle>
          <a:p>
            <a:pPr marL="0" indent="0">
              <a:buNone/>
            </a:pPr>
            <a:r>
              <a:rPr lang="en-US" sz="2200" dirty="0"/>
              <a:t>&lt; Bar chart of top 5 databases for the next year goes here.&gt;</a:t>
            </a:r>
            <a:endParaRPr lang="en-US" sz="2200" dirty="0"/>
          </a:p>
        </p:txBody>
      </p:sp>
      <p:pic>
        <p:nvPicPr>
          <p:cNvPr id="11" name="Picture 10"/>
          <p:cNvPicPr>
            <a:picLocks noChangeAspect="1"/>
          </p:cNvPicPr>
          <p:nvPr/>
        </p:nvPicPr>
        <p:blipFill rotWithShape="1">
          <a:blip r:embed="rId1"/>
          <a:srcRect l="49729" t="51922" r="7059"/>
          <a:stretch>
            <a:fillRect/>
          </a:stretch>
        </p:blipFill>
        <p:spPr>
          <a:xfrm>
            <a:off x="733425" y="2327564"/>
            <a:ext cx="5003003" cy="3032480"/>
          </a:xfrm>
          <a:prstGeom prst="rect">
            <a:avLst/>
          </a:prstGeom>
        </p:spPr>
      </p:pic>
      <p:pic>
        <p:nvPicPr>
          <p:cNvPr id="12" name="Picture 11"/>
          <p:cNvPicPr>
            <a:picLocks noChangeAspect="1"/>
          </p:cNvPicPr>
          <p:nvPr/>
        </p:nvPicPr>
        <p:blipFill rotWithShape="1">
          <a:blip r:embed="rId2"/>
          <a:srcRect l="50000" t="52373" r="7971"/>
          <a:stretch>
            <a:fillRect/>
          </a:stretch>
        </p:blipFill>
        <p:spPr>
          <a:xfrm>
            <a:off x="5736428" y="2350586"/>
            <a:ext cx="5516471" cy="30324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 TRENDS - FINDINGS &amp; IMPLICATIONS</a:t>
            </a:r>
            <a:endParaRPr lang="en-US" dirty="0"/>
          </a:p>
        </p:txBody>
      </p:sp>
      <p:sp>
        <p:nvSpPr>
          <p:cNvPr id="3" name="Content Placeholder 2"/>
          <p:cNvSpPr>
            <a:spLocks noGrp="1"/>
          </p:cNvSpPr>
          <p:nvPr>
            <p:ph sz="half" idx="1"/>
          </p:nvPr>
        </p:nvSpPr>
        <p:spPr>
          <a:xfrm>
            <a:off x="813816" y="1539875"/>
            <a:ext cx="5181600" cy="4351338"/>
          </a:xfrm>
        </p:spPr>
        <p:txBody>
          <a:bodyPr>
            <a:normAutofit fontScale="92500" lnSpcReduction="10000"/>
          </a:bodyPr>
          <a:lstStyle/>
          <a:p>
            <a:pPr marL="0" indent="0">
              <a:buNone/>
            </a:pPr>
            <a:r>
              <a:rPr lang="en-US" dirty="0"/>
              <a:t>Findings:</a:t>
            </a:r>
            <a:endParaRPr lang="en-US" dirty="0"/>
          </a:p>
          <a:p>
            <a:pPr marL="0" indent="0">
              <a:buNone/>
            </a:pPr>
            <a:endParaRPr lang="en-US" dirty="0"/>
          </a:p>
          <a:p>
            <a:r>
              <a:rPr lang="en-US" dirty="0"/>
              <a:t>There shows a trend in IDEs:</a:t>
            </a:r>
            <a:endParaRPr lang="en-US" dirty="0"/>
          </a:p>
          <a:p>
            <a:r>
              <a:rPr lang="en-US" dirty="0"/>
              <a:t>The user for </a:t>
            </a:r>
            <a:r>
              <a:rPr lang="en-US" dirty="0">
                <a:highlight>
                  <a:srgbClr val="FF0000"/>
                </a:highlight>
              </a:rPr>
              <a:t>jQuery</a:t>
            </a:r>
            <a:r>
              <a:rPr lang="en-US" dirty="0"/>
              <a:t> has drastically decreased.</a:t>
            </a:r>
            <a:endParaRPr lang="en-US" dirty="0"/>
          </a:p>
          <a:p>
            <a:r>
              <a:rPr lang="en-US" dirty="0">
                <a:highlight>
                  <a:srgbClr val="FFFF00"/>
                </a:highlight>
              </a:rPr>
              <a:t>React.js </a:t>
            </a:r>
            <a:r>
              <a:rPr lang="en-US" dirty="0"/>
              <a:t>and  </a:t>
            </a:r>
            <a:r>
              <a:rPr lang="en-US" dirty="0">
                <a:highlight>
                  <a:srgbClr val="FFFF00"/>
                </a:highlight>
              </a:rPr>
              <a:t>Vue.js </a:t>
            </a:r>
            <a:r>
              <a:rPr lang="en-US" dirty="0"/>
              <a:t>have dramatically increase for the desire IDE as compared to current </a:t>
            </a:r>
            <a:r>
              <a:rPr lang="en-US" dirty="0" err="1"/>
              <a:t>WebFrame</a:t>
            </a:r>
            <a:r>
              <a:rPr lang="en-US" dirty="0"/>
              <a:t> worked with as illustrated in the hierarchy </a:t>
            </a:r>
            <a:r>
              <a:rPr lang="en-US" dirty="0" err="1"/>
              <a:t>buble</a:t>
            </a:r>
            <a:r>
              <a:rPr lang="en-US" dirty="0"/>
              <a:t>.</a:t>
            </a:r>
            <a:endParaRPr lang="en-US" dirty="0"/>
          </a:p>
          <a:p>
            <a:pPr marL="0" indent="0">
              <a:buNone/>
            </a:pPr>
            <a:endParaRPr lang="en-US" dirty="0"/>
          </a:p>
        </p:txBody>
      </p:sp>
      <p:sp>
        <p:nvSpPr>
          <p:cNvPr id="4" name="Content Placeholder 3"/>
          <p:cNvSpPr>
            <a:spLocks noGrp="1"/>
          </p:cNvSpPr>
          <p:nvPr>
            <p:ph sz="half" idx="2"/>
          </p:nvPr>
        </p:nvSpPr>
        <p:spPr>
          <a:xfrm>
            <a:off x="6096000" y="1539875"/>
            <a:ext cx="5181600" cy="4351338"/>
          </a:xfrm>
        </p:spPr>
        <p:txBody>
          <a:bodyPr>
            <a:normAutofit fontScale="92500" lnSpcReduction="10000"/>
          </a:bodyPr>
          <a:lstStyle/>
          <a:p>
            <a:pPr marL="0" indent="0">
              <a:buNone/>
            </a:pPr>
            <a:r>
              <a:rPr lang="en-US" dirty="0"/>
              <a:t>Implications:</a:t>
            </a:r>
            <a:endParaRPr lang="en-US" dirty="0"/>
          </a:p>
          <a:p>
            <a:pPr marL="0" indent="0">
              <a:buNone/>
            </a:pPr>
            <a:endParaRPr lang="en-US" dirty="0"/>
          </a:p>
          <a:p>
            <a:r>
              <a:rPr lang="en-US" dirty="0"/>
              <a:t>People are shifting to use a better </a:t>
            </a:r>
            <a:r>
              <a:rPr lang="en-US" dirty="0" err="1"/>
              <a:t>webframe</a:t>
            </a:r>
            <a:r>
              <a:rPr lang="en-US" dirty="0"/>
              <a:t> such as React.js or Vue.js</a:t>
            </a:r>
            <a:endParaRPr lang="en-US" dirty="0"/>
          </a:p>
          <a:p>
            <a:r>
              <a:rPr lang="en-US" dirty="0">
                <a:highlight>
                  <a:srgbClr val="FF0000"/>
                </a:highlight>
              </a:rPr>
              <a:t>jQuery</a:t>
            </a:r>
            <a:r>
              <a:rPr lang="en-US" dirty="0"/>
              <a:t> might be lacking of some functionality as compare to </a:t>
            </a:r>
            <a:r>
              <a:rPr lang="en-US" dirty="0" err="1"/>
              <a:t>webframe</a:t>
            </a:r>
            <a:r>
              <a:rPr lang="en-US" dirty="0"/>
              <a:t> competitors</a:t>
            </a:r>
            <a:endParaRPr lang="en-US" dirty="0"/>
          </a:p>
          <a:p>
            <a:r>
              <a:rPr lang="en-US" dirty="0">
                <a:highlight>
                  <a:srgbClr val="FF0000"/>
                </a:highlight>
              </a:rPr>
              <a:t>jQuery</a:t>
            </a:r>
            <a:r>
              <a:rPr lang="en-US" dirty="0"/>
              <a:t> can be omitted from the new requirements of new technological skills</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DASHBOARD</a:t>
            </a:r>
            <a:endParaRPr lang="en-US" dirty="0"/>
          </a:p>
        </p:txBody>
      </p:sp>
      <p:sp>
        <p:nvSpPr>
          <p:cNvPr id="3" name="Content Placeholder 2"/>
          <p:cNvSpPr>
            <a:spLocks noGrp="1"/>
          </p:cNvSpPr>
          <p:nvPr>
            <p:ph sz="half" idx="2"/>
          </p:nvPr>
        </p:nvSpPr>
        <p:spPr>
          <a:xfrm>
            <a:off x="4285075" y="2559180"/>
            <a:ext cx="7494549" cy="2408736"/>
          </a:xfrm>
        </p:spPr>
        <p:txBody>
          <a:bodyPr>
            <a:normAutofit/>
          </a:bodyPr>
          <a:lstStyle/>
          <a:p>
            <a:pPr marL="0" indent="0">
              <a:buNone/>
            </a:pPr>
            <a:r>
              <a:rPr lang="en-US" sz="2200" b="1" dirty="0">
                <a:hlinkClick r:id="rId1"/>
              </a:rPr>
              <a:t>https://dataplatform.cloud.ibm.com/dashboards/605c0ca9-4f1e-4293-9a8b-5d07d706cf44/view/7520e63c158c2aed48d1b1e407cf2e0574342208bbbbd25780d67b490b627897a93c4099c82843098b15506aa6e4155198</a:t>
            </a:r>
            <a:endParaRPr lang="en-US" sz="2200" b="1" dirty="0"/>
          </a:p>
        </p:txBody>
      </p:sp>
      <p:pic>
        <p:nvPicPr>
          <p:cNvPr id="5" name="Picture 4"/>
          <p:cNvPicPr>
            <a:picLocks noChangeAspect="1"/>
          </p:cNvPicPr>
          <p:nvPr/>
        </p:nvPicPr>
        <p:blipFill>
          <a:blip r:embed="rId2"/>
          <a:stretch>
            <a:fillRect/>
          </a:stretch>
        </p:blipFill>
        <p:spPr>
          <a:xfrm>
            <a:off x="1077475" y="1901819"/>
            <a:ext cx="3054361" cy="305436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DASHBOARD TAB 1</a:t>
            </a:r>
            <a:endParaRPr lang="en-US" dirty="0"/>
          </a:p>
        </p:txBody>
      </p:sp>
      <p:sp>
        <p:nvSpPr>
          <p:cNvPr id="8" name="Content Placeholder 2"/>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p:cNvPicPr>
            <a:picLocks noChangeAspect="1"/>
          </p:cNvPicPr>
          <p:nvPr/>
        </p:nvPicPr>
        <p:blipFill>
          <a:blip r:embed="rId1"/>
          <a:stretch>
            <a:fillRect/>
          </a:stretch>
        </p:blipFill>
        <p:spPr>
          <a:xfrm>
            <a:off x="838200" y="1333948"/>
            <a:ext cx="9940962" cy="478715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DASHBOARD TAB 2</a:t>
            </a:r>
            <a:endParaRPr lang="en-US" dirty="0"/>
          </a:p>
        </p:txBody>
      </p:sp>
      <p:sp>
        <p:nvSpPr>
          <p:cNvPr id="8" name="Content Placeholder 2"/>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4" name="Picture 3"/>
          <p:cNvPicPr>
            <a:picLocks noChangeAspect="1"/>
          </p:cNvPicPr>
          <p:nvPr/>
        </p:nvPicPr>
        <p:blipFill>
          <a:blip r:embed="rId1"/>
          <a:stretch>
            <a:fillRect/>
          </a:stretch>
        </p:blipFill>
        <p:spPr>
          <a:xfrm>
            <a:off x="838200" y="1388368"/>
            <a:ext cx="10515600" cy="49694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DASHBOARD TAB 3</a:t>
            </a:r>
            <a:endParaRPr lang="en-US" dirty="0"/>
          </a:p>
        </p:txBody>
      </p:sp>
      <p:sp>
        <p:nvSpPr>
          <p:cNvPr id="8" name="Content Placeholder 2"/>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6" name="Picture 5"/>
          <p:cNvPicPr>
            <a:picLocks noChangeAspect="1"/>
          </p:cNvPicPr>
          <p:nvPr/>
        </p:nvPicPr>
        <p:blipFill>
          <a:blip r:embed="rId1"/>
          <a:stretch>
            <a:fillRect/>
          </a:stretch>
        </p:blipFill>
        <p:spPr>
          <a:xfrm>
            <a:off x="838200" y="1387736"/>
            <a:ext cx="10515600" cy="49592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DISCUSSION</a:t>
            </a:r>
            <a:endParaRPr lang="en-US" dirty="0"/>
          </a:p>
        </p:txBody>
      </p:sp>
      <p:pic>
        <p:nvPicPr>
          <p:cNvPr id="3" name="Content Placeholder 2"/>
          <p:cNvPicPr>
            <a:picLocks noGrp="1" noChangeAspect="1"/>
          </p:cNvPicPr>
          <p:nvPr>
            <p:ph sz="half" idx="1"/>
          </p:nvPr>
        </p:nvPicPr>
        <p:blipFill>
          <a:blip r:embed="rId1"/>
          <a:stretch>
            <a:fillRect/>
          </a:stretch>
        </p:blipFill>
        <p:spPr>
          <a:xfrm>
            <a:off x="1253331" y="1825625"/>
            <a:ext cx="4351338" cy="4351338"/>
          </a:xfrm>
          <a:prstGeom prst="rect">
            <a:avLst/>
          </a:prstGeom>
          <a:noFill/>
        </p:spPr>
      </p:pic>
      <p:sp>
        <p:nvSpPr>
          <p:cNvPr id="5" name="Content Placeholder 3"/>
          <p:cNvSpPr>
            <a:spLocks noGrp="1"/>
          </p:cNvSpPr>
          <p:nvPr>
            <p:ph sz="half" idx="2"/>
          </p:nvPr>
        </p:nvSpPr>
        <p:spPr>
          <a:xfrm>
            <a:off x="6172200" y="1406076"/>
            <a:ext cx="5181600" cy="4983965"/>
          </a:xfrm>
        </p:spPr>
        <p:txBody>
          <a:bodyPr>
            <a:normAutofit fontScale="92500" lnSpcReduction="10000"/>
          </a:bodyPr>
          <a:lstStyle/>
          <a:p>
            <a:r>
              <a:rPr lang="en-US" dirty="0"/>
              <a:t>For future skills requirements and recommendations:</a:t>
            </a:r>
            <a:endParaRPr lang="en-US" dirty="0"/>
          </a:p>
          <a:p>
            <a:pPr marL="457200" indent="-457200">
              <a:buFont typeface="+mj-lt"/>
              <a:buAutoNum type="arabicPeriod"/>
            </a:pPr>
            <a:r>
              <a:rPr lang="en-US" sz="2000" dirty="0"/>
              <a:t>What are the Skill must have? Or DESIRE to be in the industry?</a:t>
            </a:r>
            <a:endParaRPr lang="en-US" sz="2000" dirty="0"/>
          </a:p>
          <a:p>
            <a:pPr marL="457200" indent="-457200">
              <a:buFont typeface="+mj-lt"/>
              <a:buAutoNum type="arabicPeriod"/>
            </a:pPr>
            <a:r>
              <a:rPr lang="en-US" sz="2000" dirty="0"/>
              <a:t>Top programming languages </a:t>
            </a:r>
            <a:r>
              <a:rPr lang="en-US" sz="2000" dirty="0" err="1"/>
              <a:t>FutureDesire</a:t>
            </a:r>
            <a:r>
              <a:rPr lang="en-US" sz="2000" dirty="0"/>
              <a:t> are: </a:t>
            </a:r>
            <a:endParaRPr lang="en-US" sz="2000" dirty="0"/>
          </a:p>
          <a:p>
            <a:pPr lvl="1"/>
            <a:r>
              <a:rPr lang="en-US" sz="1800" dirty="0" err="1"/>
              <a:t>JavaScripts</a:t>
            </a:r>
            <a:r>
              <a:rPr lang="en-US" sz="1800" dirty="0"/>
              <a:t>, Python, HTML/</a:t>
            </a:r>
            <a:r>
              <a:rPr lang="en-US" sz="1800" dirty="0" err="1"/>
              <a:t>CSS,SQL,TypeScript</a:t>
            </a:r>
            <a:r>
              <a:rPr lang="en-US" sz="1800" dirty="0"/>
              <a:t> have become the new desire programming language that are gaining popularity in the IT industry</a:t>
            </a:r>
            <a:endParaRPr lang="en-US" sz="1800" dirty="0"/>
          </a:p>
          <a:p>
            <a:pPr marL="457200" indent="-457200">
              <a:buFont typeface="+mj-lt"/>
              <a:buAutoNum type="arabicPeriod"/>
            </a:pPr>
            <a:r>
              <a:rPr lang="en-US" sz="2200" dirty="0"/>
              <a:t>Top Database Skills:</a:t>
            </a:r>
            <a:endParaRPr lang="en-US" sz="2200" dirty="0"/>
          </a:p>
          <a:p>
            <a:pPr lvl="1"/>
            <a:r>
              <a:rPr lang="en-US" sz="1800" dirty="0"/>
              <a:t>PostgreSQL, </a:t>
            </a:r>
            <a:r>
              <a:rPr lang="en-US" sz="1800" dirty="0" err="1"/>
              <a:t>MongoDB,Redis</a:t>
            </a:r>
            <a:r>
              <a:rPr lang="en-US" sz="1800" dirty="0"/>
              <a:t>, MySQL, Elasticsearch are becoming more sought after as compared to current most popular databases that people worked with.</a:t>
            </a:r>
            <a:endParaRPr lang="en-US" sz="1800" dirty="0"/>
          </a:p>
          <a:p>
            <a:pPr marL="457200" indent="-457200">
              <a:buFont typeface="+mj-lt"/>
              <a:buAutoNum type="arabicPeriod"/>
            </a:pPr>
            <a:r>
              <a:rPr lang="en-US" sz="2200" dirty="0"/>
              <a:t>Popular IDEs:</a:t>
            </a:r>
            <a:endParaRPr lang="en-US" sz="2200" dirty="0"/>
          </a:p>
          <a:p>
            <a:pPr lvl="1"/>
            <a:r>
              <a:rPr lang="en-US" sz="1800" dirty="0" err="1"/>
              <a:t>React.js,Angular</a:t>
            </a:r>
            <a:r>
              <a:rPr lang="en-US" sz="1800" dirty="0"/>
              <a:t>/Angular.js,Vue.js , </a:t>
            </a:r>
            <a:r>
              <a:rPr lang="en-US" sz="1800" dirty="0" err="1"/>
              <a:t>jquery</a:t>
            </a:r>
            <a:r>
              <a:rPr lang="en-US" sz="1800" dirty="0"/>
              <a:t> and ASP.net are the popular IDEs.</a:t>
            </a:r>
            <a:endParaRPr lang="en-US" sz="1800" dirty="0"/>
          </a:p>
          <a:p>
            <a:pPr lvl="1"/>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OVERALL FINDINGS &amp; IMPLICATIONS</a:t>
            </a:r>
            <a:endParaRPr lang="en-US" dirty="0"/>
          </a:p>
        </p:txBody>
      </p:sp>
      <p:sp>
        <p:nvSpPr>
          <p:cNvPr id="3" name="Content Placeholder 2"/>
          <p:cNvSpPr>
            <a:spLocks noGrp="1"/>
          </p:cNvSpPr>
          <p:nvPr>
            <p:ph sz="half" idx="1"/>
          </p:nvPr>
        </p:nvSpPr>
        <p:spPr>
          <a:xfrm>
            <a:off x="813816" y="1530350"/>
            <a:ext cx="5181600" cy="4832350"/>
          </a:xfrm>
        </p:spPr>
        <p:txBody>
          <a:bodyPr>
            <a:normAutofit fontScale="62500" lnSpcReduction="20000"/>
          </a:bodyPr>
          <a:lstStyle/>
          <a:p>
            <a:pPr marL="0" indent="0">
              <a:buNone/>
            </a:pPr>
            <a:r>
              <a:rPr lang="en-US" dirty="0"/>
              <a:t>Findings</a:t>
            </a:r>
            <a:endParaRPr lang="en-US" dirty="0"/>
          </a:p>
          <a:p>
            <a:pPr marL="0" indent="0">
              <a:buNone/>
            </a:pPr>
            <a:endParaRPr lang="en-US" dirty="0"/>
          </a:p>
          <a:p>
            <a:r>
              <a:rPr lang="en-US" sz="2800" dirty="0" err="1"/>
              <a:t>JavaScripts</a:t>
            </a:r>
            <a:r>
              <a:rPr lang="en-US" sz="2800" dirty="0"/>
              <a:t>, Python, HTML/</a:t>
            </a:r>
            <a:r>
              <a:rPr lang="en-US" sz="2800" dirty="0" err="1"/>
              <a:t>CSS,SQL,TypeScript</a:t>
            </a:r>
            <a:r>
              <a:rPr lang="en-US" sz="2800" dirty="0"/>
              <a:t> are the new desire programming language</a:t>
            </a:r>
            <a:endParaRPr lang="en-US" sz="2800" dirty="0"/>
          </a:p>
          <a:p>
            <a:r>
              <a:rPr lang="en-US" sz="2800" dirty="0"/>
              <a:t>PostgreSQL, </a:t>
            </a:r>
            <a:r>
              <a:rPr lang="en-US" sz="2800" dirty="0" err="1"/>
              <a:t>MongoDB,Redis</a:t>
            </a:r>
            <a:r>
              <a:rPr lang="en-US" sz="2800" dirty="0"/>
              <a:t>, MySQL, Elasticsearch are the new desired Database</a:t>
            </a:r>
            <a:endParaRPr lang="en-US" sz="2800" dirty="0"/>
          </a:p>
          <a:p>
            <a:r>
              <a:rPr lang="en-US" sz="2800" dirty="0" err="1"/>
              <a:t>React.js,Angular</a:t>
            </a:r>
            <a:r>
              <a:rPr lang="en-US" sz="2800" dirty="0"/>
              <a:t>/Angular.js,Vue.js , </a:t>
            </a:r>
            <a:r>
              <a:rPr lang="en-US" sz="2800" dirty="0" err="1"/>
              <a:t>jquery</a:t>
            </a:r>
            <a:r>
              <a:rPr lang="en-US" sz="2800" dirty="0"/>
              <a:t> and ASP.net are the popular IDEs</a:t>
            </a:r>
            <a:endParaRPr lang="en-US" sz="2800" dirty="0"/>
          </a:p>
          <a:p>
            <a:r>
              <a:rPr lang="en-US" dirty="0"/>
              <a:t>The trends shows a drastic changes in Desire for </a:t>
            </a:r>
            <a:r>
              <a:rPr lang="en-US" dirty="0" err="1"/>
              <a:t>nextyear</a:t>
            </a:r>
            <a:r>
              <a:rPr lang="en-US" dirty="0"/>
              <a:t> programming languages, Database and IDEs</a:t>
            </a:r>
            <a:endParaRPr lang="en-US" dirty="0"/>
          </a:p>
          <a:p>
            <a:endParaRPr lang="en-US" dirty="0"/>
          </a:p>
          <a:p>
            <a:endParaRPr lang="en-US" dirty="0"/>
          </a:p>
        </p:txBody>
      </p:sp>
      <p:sp>
        <p:nvSpPr>
          <p:cNvPr id="4" name="Content Placeholder 3"/>
          <p:cNvSpPr>
            <a:spLocks noGrp="1"/>
          </p:cNvSpPr>
          <p:nvPr>
            <p:ph sz="half" idx="2"/>
          </p:nvPr>
        </p:nvSpPr>
        <p:spPr>
          <a:xfrm>
            <a:off x="6172200" y="1530350"/>
            <a:ext cx="5181600" cy="4832350"/>
          </a:xfrm>
        </p:spPr>
        <p:txBody>
          <a:bodyPr>
            <a:normAutofit fontScale="62500" lnSpcReduction="20000"/>
          </a:bodyPr>
          <a:lstStyle/>
          <a:p>
            <a:pPr marL="0" indent="0">
              <a:buNone/>
            </a:pPr>
            <a:r>
              <a:rPr lang="en-US" dirty="0"/>
              <a:t>Implications</a:t>
            </a:r>
            <a:endParaRPr lang="en-US" dirty="0"/>
          </a:p>
          <a:p>
            <a:pPr marL="0" indent="0">
              <a:buNone/>
            </a:pPr>
            <a:endParaRPr lang="en-US" dirty="0"/>
          </a:p>
          <a:p>
            <a:r>
              <a:rPr lang="en-US" dirty="0"/>
              <a:t>Future Skills Requirements implements:</a:t>
            </a:r>
            <a:endParaRPr lang="en-US" dirty="0"/>
          </a:p>
          <a:p>
            <a:r>
              <a:rPr lang="en-US" dirty="0"/>
              <a:t>Programming Language:</a:t>
            </a:r>
            <a:endParaRPr lang="en-US" dirty="0"/>
          </a:p>
          <a:p>
            <a:pPr lvl="1"/>
            <a:r>
              <a:rPr lang="en-US" dirty="0"/>
              <a:t> </a:t>
            </a:r>
            <a:r>
              <a:rPr lang="en-US" dirty="0" err="1"/>
              <a:t>JavaScripts</a:t>
            </a:r>
            <a:r>
              <a:rPr lang="en-US" dirty="0"/>
              <a:t>, Python, HTML/</a:t>
            </a:r>
            <a:r>
              <a:rPr lang="en-US" dirty="0" err="1"/>
              <a:t>CSS,SQL,TypeScript</a:t>
            </a:r>
            <a:endParaRPr lang="en-US" dirty="0"/>
          </a:p>
          <a:p>
            <a:r>
              <a:rPr lang="en-US" dirty="0"/>
              <a:t> Database:</a:t>
            </a:r>
            <a:endParaRPr lang="en-US" dirty="0"/>
          </a:p>
          <a:p>
            <a:pPr lvl="1"/>
            <a:r>
              <a:rPr lang="en-US" dirty="0"/>
              <a:t>PostgreSQL, </a:t>
            </a:r>
            <a:r>
              <a:rPr lang="en-US" dirty="0" err="1"/>
              <a:t>MongoDB,Redis</a:t>
            </a:r>
            <a:r>
              <a:rPr lang="en-US" dirty="0"/>
              <a:t>, MySQL, Elasticsearch</a:t>
            </a:r>
            <a:endParaRPr lang="en-US" dirty="0"/>
          </a:p>
          <a:p>
            <a:r>
              <a:rPr lang="en-US" dirty="0"/>
              <a:t> IDEs:</a:t>
            </a:r>
            <a:endParaRPr lang="en-US" dirty="0"/>
          </a:p>
          <a:p>
            <a:pPr lvl="1"/>
            <a:r>
              <a:rPr lang="en-US" dirty="0" err="1"/>
              <a:t>React.js,Angular</a:t>
            </a:r>
            <a:r>
              <a:rPr lang="en-US" dirty="0"/>
              <a:t>/Angular.js,Vue.js , </a:t>
            </a:r>
            <a:r>
              <a:rPr lang="en-US" dirty="0" err="1"/>
              <a:t>jquery</a:t>
            </a:r>
            <a:r>
              <a:rPr lang="en-US" dirty="0"/>
              <a:t> and ASP.net</a:t>
            </a:r>
            <a:endParaRPr lang="en-US" dirty="0"/>
          </a:p>
          <a:p>
            <a:pPr marL="914400" lvl="2" indent="0">
              <a:buNone/>
            </a:pPr>
            <a:endParaRPr lang="en-US" dirty="0"/>
          </a:p>
          <a:p>
            <a:r>
              <a:rPr lang="en-US" dirty="0"/>
              <a:t>There are a few Databases that are also increasingly desire such like </a:t>
            </a:r>
            <a:r>
              <a:rPr lang="en-US" dirty="0" err="1"/>
              <a:t>DynamoBd</a:t>
            </a:r>
            <a:endParaRPr lang="en-US" dirty="0"/>
          </a:p>
          <a:p>
            <a:r>
              <a:rPr lang="en-US" dirty="0"/>
              <a:t>The numbers of Skills requirements to be able to be competitive in the IT industry has been changing in the vast development and redefine of current </a:t>
            </a:r>
            <a:r>
              <a:rPr lang="en-US" dirty="0" err="1"/>
              <a:t>techonoly</a:t>
            </a:r>
            <a:r>
              <a:rPr lang="en-US" dirty="0"/>
              <a:t>.</a:t>
            </a:r>
            <a:endParaRPr lang="en-US" dirty="0"/>
          </a:p>
          <a:p>
            <a:pPr marL="914400" lvl="2" indent="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FINDINGS &amp; IMPLICATIONS</a:t>
            </a:r>
            <a:endParaRPr lang="en-US" dirty="0"/>
          </a:p>
        </p:txBody>
      </p:sp>
      <p:sp>
        <p:nvSpPr>
          <p:cNvPr id="3" name="Content Placeholder 2"/>
          <p:cNvSpPr>
            <a:spLocks noGrp="1"/>
          </p:cNvSpPr>
          <p:nvPr>
            <p:ph sz="half" idx="1"/>
          </p:nvPr>
        </p:nvSpPr>
        <p:spPr>
          <a:xfrm>
            <a:off x="813816" y="1530350"/>
            <a:ext cx="5181600" cy="4832350"/>
          </a:xfrm>
        </p:spPr>
        <p:txBody>
          <a:bodyPr>
            <a:normAutofit/>
          </a:bodyPr>
          <a:lstStyle/>
          <a:p>
            <a:pPr marL="0" indent="0">
              <a:buNone/>
            </a:pPr>
            <a:r>
              <a:rPr lang="en-US" sz="1800" dirty="0"/>
              <a:t>Findings</a:t>
            </a:r>
            <a:endParaRPr lang="en-US" sz="1800" dirty="0"/>
          </a:p>
          <a:p>
            <a:pPr marL="0" indent="0">
              <a:buNone/>
            </a:pPr>
            <a:endParaRPr lang="en-US" sz="1800" dirty="0"/>
          </a:p>
          <a:p>
            <a:r>
              <a:rPr lang="en-US" sz="1800" dirty="0"/>
              <a:t>The survey that is done where Men are more involve in the IT industry as depicts from the </a:t>
            </a:r>
            <a:r>
              <a:rPr lang="en-US" sz="1800" dirty="0" err="1"/>
              <a:t>DashBoard</a:t>
            </a:r>
            <a:r>
              <a:rPr lang="en-US" sz="1800" dirty="0"/>
              <a:t> 3 Pie chart where it shown about 93.7% of the industry are men.</a:t>
            </a:r>
            <a:endParaRPr lang="en-US" sz="1800" dirty="0"/>
          </a:p>
          <a:p>
            <a:r>
              <a:rPr lang="en-US" sz="1800" dirty="0"/>
              <a:t>From the research it also shows that the respondent for the survey are roughly around age of 18-40</a:t>
            </a:r>
            <a:endParaRPr lang="en-US" sz="1800" dirty="0"/>
          </a:p>
          <a:p>
            <a:r>
              <a:rPr lang="en-US" sz="1800" dirty="0"/>
              <a:t>From the survey also illustrated that most respondent has </a:t>
            </a:r>
            <a:r>
              <a:rPr lang="en-US" sz="1800" dirty="0" err="1"/>
              <a:t>atleast</a:t>
            </a:r>
            <a:r>
              <a:rPr lang="en-US" sz="1800" dirty="0"/>
              <a:t> an education level of a bachelors degree</a:t>
            </a:r>
            <a:endParaRPr lang="en-US" sz="1800" dirty="0"/>
          </a:p>
          <a:p>
            <a:endParaRPr lang="en-US" sz="1800" dirty="0"/>
          </a:p>
        </p:txBody>
      </p:sp>
      <p:sp>
        <p:nvSpPr>
          <p:cNvPr id="4" name="Content Placeholder 3"/>
          <p:cNvSpPr>
            <a:spLocks noGrp="1"/>
          </p:cNvSpPr>
          <p:nvPr>
            <p:ph sz="half" idx="2"/>
          </p:nvPr>
        </p:nvSpPr>
        <p:spPr>
          <a:xfrm>
            <a:off x="6172200" y="1530350"/>
            <a:ext cx="5181600" cy="4832350"/>
          </a:xfrm>
        </p:spPr>
        <p:txBody>
          <a:bodyPr>
            <a:normAutofit/>
          </a:bodyPr>
          <a:lstStyle/>
          <a:p>
            <a:pPr marL="0" indent="0">
              <a:buNone/>
            </a:pPr>
            <a:r>
              <a:rPr lang="en-US" dirty="0"/>
              <a:t>Implications:</a:t>
            </a:r>
            <a:endParaRPr lang="en-US" dirty="0"/>
          </a:p>
          <a:p>
            <a:r>
              <a:rPr lang="en-US" sz="2000" dirty="0"/>
              <a:t>There might be a relationship related between the next year desire skills and the education level of the respondent.</a:t>
            </a:r>
            <a:endParaRPr lang="en-US" sz="2000" dirty="0"/>
          </a:p>
          <a:p>
            <a:endParaRPr lang="en-US" sz="2000" dirty="0"/>
          </a:p>
          <a:p>
            <a:r>
              <a:rPr lang="en-US" sz="2000" dirty="0"/>
              <a:t>Gender might plays a role in the ever changing industry of IT </a:t>
            </a:r>
            <a:endParaRPr lang="en-US" sz="2000" dirty="0"/>
          </a:p>
          <a:p>
            <a:pPr marL="0" indent="0">
              <a:buNone/>
            </a:pPr>
            <a:endParaRPr lang="en-US" dirty="0"/>
          </a:p>
          <a:p>
            <a:pPr marL="0" indent="0">
              <a:buNone/>
            </a:pPr>
            <a:endParaRPr lang="en-US" dirty="0"/>
          </a:p>
          <a:p>
            <a:pPr marL="914400" lvl="2" indent="0">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CONCLUSION</a:t>
            </a:r>
            <a:endParaRPr lang="en-US" dirty="0"/>
          </a:p>
        </p:txBody>
      </p:sp>
      <p:sp>
        <p:nvSpPr>
          <p:cNvPr id="5" name="Content Placeholder 3"/>
          <p:cNvSpPr>
            <a:spLocks noGrp="1"/>
          </p:cNvSpPr>
          <p:nvPr>
            <p:ph sz="half" idx="2"/>
          </p:nvPr>
        </p:nvSpPr>
        <p:spPr>
          <a:xfrm>
            <a:off x="4544291" y="1825625"/>
            <a:ext cx="6809509" cy="4351338"/>
          </a:xfrm>
        </p:spPr>
        <p:txBody>
          <a:bodyPr>
            <a:normAutofit fontScale="77500" lnSpcReduction="20000"/>
          </a:bodyPr>
          <a:lstStyle/>
          <a:p>
            <a:r>
              <a:rPr lang="en-US" dirty="0"/>
              <a:t>The Open source data collected from </a:t>
            </a:r>
            <a:r>
              <a:rPr lang="en-US" dirty="0" err="1"/>
              <a:t>StackFlow</a:t>
            </a:r>
            <a:r>
              <a:rPr lang="en-US" dirty="0"/>
              <a:t> can be recreated and analyze to avoid any data biased.</a:t>
            </a:r>
            <a:endParaRPr lang="en-US" dirty="0"/>
          </a:p>
          <a:p>
            <a:r>
              <a:rPr lang="en-US" dirty="0"/>
              <a:t>The technologies that worked with in  current year has shown a shift in trend, in order to remain competitive changes in skills requirements are needed.</a:t>
            </a:r>
            <a:endParaRPr lang="en-US" dirty="0"/>
          </a:p>
          <a:p>
            <a:r>
              <a:rPr lang="en-US" dirty="0"/>
              <a:t>The significant changes and desires are shown in programming languages and the </a:t>
            </a:r>
            <a:r>
              <a:rPr lang="en-US" dirty="0" err="1"/>
              <a:t>databases.Hence</a:t>
            </a:r>
            <a:r>
              <a:rPr lang="en-US" dirty="0"/>
              <a:t> the new requirements:</a:t>
            </a:r>
            <a:endParaRPr lang="en-US" dirty="0"/>
          </a:p>
          <a:p>
            <a:r>
              <a:rPr lang="en-US" dirty="0"/>
              <a:t>Programming Language:</a:t>
            </a:r>
            <a:endParaRPr lang="en-US" dirty="0"/>
          </a:p>
          <a:p>
            <a:pPr lvl="1"/>
            <a:r>
              <a:rPr lang="en-US" dirty="0"/>
              <a:t> </a:t>
            </a:r>
            <a:r>
              <a:rPr lang="en-US" dirty="0" err="1"/>
              <a:t>JavaScripts</a:t>
            </a:r>
            <a:r>
              <a:rPr lang="en-US" dirty="0"/>
              <a:t>, Python, HTML/</a:t>
            </a:r>
            <a:r>
              <a:rPr lang="en-US" dirty="0" err="1"/>
              <a:t>CSS,SQL,TypeScript</a:t>
            </a:r>
            <a:endParaRPr lang="en-US" dirty="0"/>
          </a:p>
          <a:p>
            <a:r>
              <a:rPr lang="en-US" dirty="0"/>
              <a:t>Database:</a:t>
            </a:r>
            <a:endParaRPr lang="en-US" dirty="0"/>
          </a:p>
          <a:p>
            <a:pPr lvl="1"/>
            <a:r>
              <a:rPr lang="en-US" dirty="0"/>
              <a:t>PostgreSQL, </a:t>
            </a:r>
            <a:r>
              <a:rPr lang="en-US" dirty="0" err="1"/>
              <a:t>MongoDB,Redis</a:t>
            </a:r>
            <a:r>
              <a:rPr lang="en-US" dirty="0"/>
              <a:t>, MySQL, Elasticsearch</a:t>
            </a:r>
            <a:endParaRPr lang="en-US" dirty="0"/>
          </a:p>
          <a:p>
            <a:r>
              <a:rPr lang="en-US" dirty="0"/>
              <a:t>IDEs:</a:t>
            </a:r>
            <a:endParaRPr lang="en-US" dirty="0"/>
          </a:p>
          <a:p>
            <a:pPr lvl="1"/>
            <a:r>
              <a:rPr lang="en-US" dirty="0" err="1"/>
              <a:t>React.js,Angular</a:t>
            </a:r>
            <a:r>
              <a:rPr lang="en-US" dirty="0"/>
              <a:t>/Angular.js,Vue.js , </a:t>
            </a:r>
            <a:r>
              <a:rPr lang="en-US" dirty="0" err="1"/>
              <a:t>jquery</a:t>
            </a:r>
            <a:r>
              <a:rPr lang="en-US" dirty="0"/>
              <a:t> and ASP.net</a:t>
            </a:r>
            <a:endParaRPr lang="en-US" dirty="0"/>
          </a:p>
          <a:p>
            <a:endParaRPr lang="en-US" dirty="0"/>
          </a:p>
          <a:p>
            <a:endParaRPr lang="en-US" dirty="0"/>
          </a:p>
        </p:txBody>
      </p:sp>
      <p:pic>
        <p:nvPicPr>
          <p:cNvPr id="6" name="Content Placeholder 5"/>
          <p:cNvPicPr>
            <a:picLocks noGrp="1" noChangeAspect="1"/>
          </p:cNvPicPr>
          <p:nvPr>
            <p:ph sz="half" idx="1"/>
          </p:nvPr>
        </p:nvPicPr>
        <p:blipFill>
          <a:blip r:embed="rId1"/>
          <a:stretch>
            <a:fillRect/>
          </a:stretch>
        </p:blipFill>
        <p:spPr>
          <a:xfrm>
            <a:off x="1125967" y="2113896"/>
            <a:ext cx="3054361" cy="305436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APPENDIX</a:t>
            </a:r>
            <a:endParaRPr lang="en-US" dirty="0"/>
          </a:p>
        </p:txBody>
      </p:sp>
      <p:graphicFrame>
        <p:nvGraphicFramePr>
          <p:cNvPr id="3" name="Content Placeholder 2"/>
          <p:cNvGraphicFramePr>
            <a:graphicFrameLocks noGrp="1"/>
          </p:cNvGraphicFramePr>
          <p:nvPr>
            <p:ph sz="half" idx="2"/>
          </p:nvPr>
        </p:nvGraphicFramePr>
        <p:xfrm>
          <a:off x="4545013" y="2368018"/>
          <a:ext cx="5894387" cy="3366029"/>
        </p:xfrm>
        <a:graphic>
          <a:graphicData uri="http://schemas.openxmlformats.org/drawingml/2006/table">
            <a:tbl>
              <a:tblPr/>
              <a:tblGrid>
                <a:gridCol w="2309914"/>
                <a:gridCol w="3584473"/>
              </a:tblGrid>
              <a:tr h="595059">
                <a:tc>
                  <a:txBody>
                    <a:bodyPr/>
                    <a:lstStyle/>
                    <a:p>
                      <a:pPr algn="r" fontAlgn="ctr"/>
                      <a:r>
                        <a:rPr lang="en-US" sz="1200" b="1" dirty="0">
                          <a:effectLst/>
                        </a:rPr>
                        <a:t>Language</a:t>
                      </a:r>
                      <a:endParaRPr lang="en-US" sz="1200" b="1"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effectLst/>
                        </a:rPr>
                        <a:t>Average Annual Salary</a:t>
                      </a:r>
                      <a:endParaRPr lang="en-US" sz="1200" b="1" dirty="0">
                        <a:effectLst/>
                      </a:endParaRPr>
                    </a:p>
                    <a:p>
                      <a:endParaRPr lang="en-US" sz="1200" dirty="0"/>
                    </a:p>
                  </a:txBody>
                  <a:tcPr marL="59207" marR="59207" marT="29603" marB="29603">
                    <a:lnL w="9525" cap="flat" cmpd="sng" algn="ctr">
                      <a:solidFill>
                        <a:srgbClr val="000000"/>
                      </a:solidFill>
                      <a:prstDash val="solid"/>
                      <a:round/>
                      <a:headEnd type="none" w="med" len="med"/>
                      <a:tailEnd type="none" w="med" len="med"/>
                    </a:lnL>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Python</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$114,383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$101,013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R</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$92,037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Javascript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$110,981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Swift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$130,801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$113,865</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$88,726</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PHP</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$84,727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SQL</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$84,793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dirty="0">
                          <a:effectLst/>
                        </a:rPr>
                        <a:t>Go</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dirty="0">
                          <a:effectLst/>
                        </a:rPr>
                        <a:t>$94,082</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6" name="TextBox 5"/>
          <p:cNvSpPr txBox="1"/>
          <p:nvPr/>
        </p:nvSpPr>
        <p:spPr>
          <a:xfrm>
            <a:off x="4667250" y="1543050"/>
            <a:ext cx="5514975" cy="369332"/>
          </a:xfrm>
          <a:prstGeom prst="rect">
            <a:avLst/>
          </a:prstGeom>
          <a:noFill/>
        </p:spPr>
        <p:txBody>
          <a:bodyPr wrap="square" rtlCol="0">
            <a:spAutoFit/>
          </a:bodyPr>
          <a:lstStyle/>
          <a:p>
            <a:r>
              <a:rPr lang="en-US" b="0" i="0" dirty="0">
                <a:solidFill>
                  <a:srgbClr val="000000"/>
                </a:solidFill>
                <a:effectLst/>
                <a:latin typeface="Helvetica Neue"/>
              </a:rPr>
              <a:t>file named </a:t>
            </a:r>
            <a:r>
              <a:rPr lang="en-US" b="0" i="1" dirty="0">
                <a:solidFill>
                  <a:srgbClr val="000000"/>
                </a:solidFill>
                <a:effectLst/>
                <a:latin typeface="Helvetica Neue"/>
              </a:rPr>
              <a:t>popular-languages.csv</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APPENDIX</a:t>
            </a:r>
            <a:endParaRPr lang="en-US" dirty="0"/>
          </a:p>
        </p:txBody>
      </p:sp>
      <p:graphicFrame>
        <p:nvGraphicFramePr>
          <p:cNvPr id="3" name="Content Placeholder 2"/>
          <p:cNvGraphicFramePr>
            <a:graphicFrameLocks noGrp="1"/>
          </p:cNvGraphicFramePr>
          <p:nvPr>
            <p:ph sz="half" idx="2"/>
          </p:nvPr>
        </p:nvGraphicFramePr>
        <p:xfrm>
          <a:off x="4545013" y="2368018"/>
          <a:ext cx="5894387" cy="3366029"/>
        </p:xfrm>
        <a:graphic>
          <a:graphicData uri="http://schemas.openxmlformats.org/drawingml/2006/table">
            <a:tbl>
              <a:tblPr/>
              <a:tblGrid>
                <a:gridCol w="2309914"/>
                <a:gridCol w="3584473"/>
              </a:tblGrid>
              <a:tr h="595059">
                <a:tc>
                  <a:txBody>
                    <a:bodyPr/>
                    <a:lstStyle/>
                    <a:p>
                      <a:pPr algn="r" fontAlgn="ctr"/>
                      <a:r>
                        <a:rPr lang="en-US" sz="1200" b="1" dirty="0">
                          <a:effectLst/>
                        </a:rPr>
                        <a:t>Language</a:t>
                      </a:r>
                      <a:endParaRPr lang="en-US" sz="1200" b="1"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effectLst/>
                        </a:rPr>
                        <a:t>Average Annual Salary</a:t>
                      </a:r>
                      <a:endParaRPr lang="en-US" sz="1200" b="1" dirty="0">
                        <a:effectLst/>
                      </a:endParaRPr>
                    </a:p>
                    <a:p>
                      <a:endParaRPr lang="en-US" sz="1200" dirty="0"/>
                    </a:p>
                  </a:txBody>
                  <a:tcPr marL="59207" marR="59207" marT="29603" marB="29603">
                    <a:lnL w="9525" cap="flat" cmpd="sng" algn="ctr">
                      <a:solidFill>
                        <a:srgbClr val="000000"/>
                      </a:solidFill>
                      <a:prstDash val="solid"/>
                      <a:round/>
                      <a:headEnd type="none" w="med" len="med"/>
                      <a:tailEnd type="none" w="med" len="med"/>
                    </a:lnL>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Python</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$114,383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$101,013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R</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$92,037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Javascript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$110,981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Swift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$130,801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$113,865</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$88,726</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PHP</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$84,727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SQL</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$84,793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dirty="0">
                          <a:effectLst/>
                        </a:rPr>
                        <a:t>Go</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dirty="0">
                          <a:effectLst/>
                        </a:rPr>
                        <a:t>$94,082</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6" name="TextBox 5"/>
          <p:cNvSpPr txBox="1"/>
          <p:nvPr/>
        </p:nvSpPr>
        <p:spPr>
          <a:xfrm>
            <a:off x="4667250" y="1543050"/>
            <a:ext cx="5514975" cy="369332"/>
          </a:xfrm>
          <a:prstGeom prst="rect">
            <a:avLst/>
          </a:prstGeom>
          <a:noFill/>
        </p:spPr>
        <p:txBody>
          <a:bodyPr wrap="square" rtlCol="0">
            <a:spAutoFit/>
          </a:bodyPr>
          <a:lstStyle/>
          <a:p>
            <a:r>
              <a:rPr lang="en-US" b="0" i="0" dirty="0">
                <a:solidFill>
                  <a:srgbClr val="000000"/>
                </a:solidFill>
                <a:effectLst/>
                <a:latin typeface="Helvetica Neue"/>
              </a:rPr>
              <a:t>file named </a:t>
            </a:r>
            <a:r>
              <a:rPr lang="en-US" b="0" i="1" dirty="0">
                <a:solidFill>
                  <a:srgbClr val="000000"/>
                </a:solidFill>
                <a:effectLst/>
                <a:latin typeface="Helvetica Neue"/>
              </a:rPr>
              <a:t>popular-languages.csv</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APPENDIX</a:t>
            </a:r>
            <a:endParaRPr lang="en-US" dirty="0"/>
          </a:p>
        </p:txBody>
      </p:sp>
      <p:graphicFrame>
        <p:nvGraphicFramePr>
          <p:cNvPr id="3" name="Content Placeholder 2"/>
          <p:cNvGraphicFramePr>
            <a:graphicFrameLocks noGrp="1"/>
          </p:cNvGraphicFramePr>
          <p:nvPr>
            <p:ph sz="half" idx="2"/>
          </p:nvPr>
        </p:nvGraphicFramePr>
        <p:xfrm>
          <a:off x="4545013" y="2368018"/>
          <a:ext cx="5894387" cy="3366029"/>
        </p:xfrm>
        <a:graphic>
          <a:graphicData uri="http://schemas.openxmlformats.org/drawingml/2006/table">
            <a:tbl>
              <a:tblPr/>
              <a:tblGrid>
                <a:gridCol w="2309914"/>
                <a:gridCol w="3584473"/>
              </a:tblGrid>
              <a:tr h="595059">
                <a:tc>
                  <a:txBody>
                    <a:bodyPr/>
                    <a:lstStyle/>
                    <a:p>
                      <a:pPr algn="r" fontAlgn="ctr"/>
                      <a:r>
                        <a:rPr lang="en-US" sz="1200" b="1" dirty="0">
                          <a:effectLst/>
                        </a:rPr>
                        <a:t>Language</a:t>
                      </a:r>
                      <a:endParaRPr lang="en-US" sz="1200" b="1"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effectLst/>
                        </a:rPr>
                        <a:t>Average Annual Salary</a:t>
                      </a:r>
                      <a:endParaRPr lang="en-US" sz="1200" b="1" dirty="0">
                        <a:effectLst/>
                      </a:endParaRPr>
                    </a:p>
                    <a:p>
                      <a:endParaRPr lang="en-US" sz="1200" dirty="0"/>
                    </a:p>
                  </a:txBody>
                  <a:tcPr marL="59207" marR="59207" marT="29603" marB="29603">
                    <a:lnL w="9525" cap="flat" cmpd="sng" algn="ctr">
                      <a:solidFill>
                        <a:srgbClr val="000000"/>
                      </a:solidFill>
                      <a:prstDash val="solid"/>
                      <a:round/>
                      <a:headEnd type="none" w="med" len="med"/>
                      <a:tailEnd type="none" w="med" len="med"/>
                    </a:lnL>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Python</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$114,383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$101,013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R</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$92,037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Javascript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$110,981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Swift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$130,801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$113,865</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$88,726</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PHP</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$84,727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SQL</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$84,793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dirty="0">
                          <a:effectLst/>
                        </a:rPr>
                        <a:t>Go</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dirty="0">
                          <a:effectLst/>
                        </a:rPr>
                        <a:t>$94,082</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6" name="TextBox 5"/>
          <p:cNvSpPr txBox="1"/>
          <p:nvPr/>
        </p:nvSpPr>
        <p:spPr>
          <a:xfrm>
            <a:off x="4667250" y="1543050"/>
            <a:ext cx="5514975" cy="369332"/>
          </a:xfrm>
          <a:prstGeom prst="rect">
            <a:avLst/>
          </a:prstGeom>
          <a:noFill/>
        </p:spPr>
        <p:txBody>
          <a:bodyPr wrap="square" rtlCol="0">
            <a:spAutoFit/>
          </a:bodyPr>
          <a:lstStyle/>
          <a:p>
            <a:r>
              <a:rPr lang="en-US" b="0" i="0" dirty="0">
                <a:solidFill>
                  <a:srgbClr val="000000"/>
                </a:solidFill>
                <a:effectLst/>
                <a:latin typeface="Helvetica Neue"/>
              </a:rPr>
              <a:t>file named </a:t>
            </a:r>
            <a:r>
              <a:rPr lang="en-US" b="0" i="1" dirty="0">
                <a:solidFill>
                  <a:srgbClr val="000000"/>
                </a:solidFill>
                <a:effectLst/>
                <a:latin typeface="Helvetica Neue"/>
              </a:rPr>
              <a:t>popular-languages.csv</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APPENDIX</a:t>
            </a:r>
            <a:endParaRPr lang="en-US" dirty="0"/>
          </a:p>
        </p:txBody>
      </p:sp>
      <p:graphicFrame>
        <p:nvGraphicFramePr>
          <p:cNvPr id="3" name="Content Placeholder 2"/>
          <p:cNvGraphicFramePr>
            <a:graphicFrameLocks noGrp="1"/>
          </p:cNvGraphicFramePr>
          <p:nvPr>
            <p:ph sz="half" idx="2"/>
          </p:nvPr>
        </p:nvGraphicFramePr>
        <p:xfrm>
          <a:off x="4545013" y="2368018"/>
          <a:ext cx="5894387" cy="3366029"/>
        </p:xfrm>
        <a:graphic>
          <a:graphicData uri="http://schemas.openxmlformats.org/drawingml/2006/table">
            <a:tbl>
              <a:tblPr/>
              <a:tblGrid>
                <a:gridCol w="2309914"/>
                <a:gridCol w="3584473"/>
              </a:tblGrid>
              <a:tr h="595059">
                <a:tc>
                  <a:txBody>
                    <a:bodyPr/>
                    <a:lstStyle/>
                    <a:p>
                      <a:pPr algn="r" fontAlgn="ctr"/>
                      <a:r>
                        <a:rPr lang="en-US" sz="1200" b="1" dirty="0">
                          <a:effectLst/>
                        </a:rPr>
                        <a:t>Language</a:t>
                      </a:r>
                      <a:endParaRPr lang="en-US" sz="1200" b="1"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effectLst/>
                        </a:rPr>
                        <a:t>Average Annual Salary</a:t>
                      </a:r>
                      <a:endParaRPr lang="en-US" sz="1200" b="1" dirty="0">
                        <a:effectLst/>
                      </a:endParaRPr>
                    </a:p>
                    <a:p>
                      <a:endParaRPr lang="en-US" sz="1200" dirty="0"/>
                    </a:p>
                  </a:txBody>
                  <a:tcPr marL="59207" marR="59207" marT="29603" marB="29603">
                    <a:lnL w="9525" cap="flat" cmpd="sng" algn="ctr">
                      <a:solidFill>
                        <a:srgbClr val="000000"/>
                      </a:solidFill>
                      <a:prstDash val="solid"/>
                      <a:round/>
                      <a:headEnd type="none" w="med" len="med"/>
                      <a:tailEnd type="none" w="med" len="med"/>
                    </a:lnL>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Python</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$114,383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$101,013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R</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$92,037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Javascript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$110,981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Swift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$130,801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$113,865</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$88,726</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PHP</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$84,727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SQL</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$84,793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dirty="0">
                          <a:effectLst/>
                        </a:rPr>
                        <a:t>Go</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dirty="0">
                          <a:effectLst/>
                        </a:rPr>
                        <a:t>$94,082</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6" name="TextBox 5"/>
          <p:cNvSpPr txBox="1"/>
          <p:nvPr/>
        </p:nvSpPr>
        <p:spPr>
          <a:xfrm>
            <a:off x="4667250" y="1543050"/>
            <a:ext cx="5514975" cy="369332"/>
          </a:xfrm>
          <a:prstGeom prst="rect">
            <a:avLst/>
          </a:prstGeom>
          <a:noFill/>
        </p:spPr>
        <p:txBody>
          <a:bodyPr wrap="square" rtlCol="0">
            <a:spAutoFit/>
          </a:bodyPr>
          <a:lstStyle/>
          <a:p>
            <a:r>
              <a:rPr lang="en-US" b="0" i="0" dirty="0">
                <a:solidFill>
                  <a:srgbClr val="000000"/>
                </a:solidFill>
                <a:effectLst/>
                <a:latin typeface="Helvetica Neue"/>
              </a:rPr>
              <a:t>file named </a:t>
            </a:r>
            <a:r>
              <a:rPr lang="en-US" b="0" i="1" dirty="0">
                <a:solidFill>
                  <a:srgbClr val="000000"/>
                </a:solidFill>
                <a:effectLst/>
                <a:latin typeface="Helvetica Neue"/>
              </a:rPr>
              <a:t>popular-languages.csv</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nchor="ctr">
            <a:normAutofit/>
          </a:bodyPr>
          <a:lstStyle/>
          <a:p>
            <a:r>
              <a:rPr lang="en-US" dirty="0"/>
              <a:t>APPENDIX</a:t>
            </a:r>
            <a:endParaRPr lang="en-US" dirty="0"/>
          </a:p>
        </p:txBody>
      </p:sp>
      <p:graphicFrame>
        <p:nvGraphicFramePr>
          <p:cNvPr id="3" name="Content Placeholder 2"/>
          <p:cNvGraphicFramePr>
            <a:graphicFrameLocks noGrp="1"/>
          </p:cNvGraphicFramePr>
          <p:nvPr>
            <p:ph sz="half" idx="2"/>
          </p:nvPr>
        </p:nvGraphicFramePr>
        <p:xfrm>
          <a:off x="4545013" y="2368018"/>
          <a:ext cx="5894387" cy="3366029"/>
        </p:xfrm>
        <a:graphic>
          <a:graphicData uri="http://schemas.openxmlformats.org/drawingml/2006/table">
            <a:tbl>
              <a:tblPr/>
              <a:tblGrid>
                <a:gridCol w="2309914"/>
                <a:gridCol w="3584473"/>
              </a:tblGrid>
              <a:tr h="595059">
                <a:tc>
                  <a:txBody>
                    <a:bodyPr/>
                    <a:lstStyle/>
                    <a:p>
                      <a:pPr algn="r" fontAlgn="ctr"/>
                      <a:r>
                        <a:rPr lang="en-US" sz="1200" b="1" dirty="0">
                          <a:effectLst/>
                        </a:rPr>
                        <a:t>Language</a:t>
                      </a:r>
                      <a:endParaRPr lang="en-US" sz="1200" b="1"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b="1" dirty="0">
                          <a:effectLst/>
                        </a:rPr>
                        <a:t>Average Annual Salary</a:t>
                      </a:r>
                      <a:endParaRPr lang="en-US" sz="1200" b="1" dirty="0">
                        <a:effectLst/>
                      </a:endParaRPr>
                    </a:p>
                    <a:p>
                      <a:endParaRPr lang="en-US" sz="1200" dirty="0"/>
                    </a:p>
                  </a:txBody>
                  <a:tcPr marL="59207" marR="59207" marT="29603" marB="29603">
                    <a:lnL w="9525" cap="flat" cmpd="sng" algn="ctr">
                      <a:solidFill>
                        <a:srgbClr val="000000"/>
                      </a:solidFill>
                      <a:prstDash val="solid"/>
                      <a:round/>
                      <a:headEnd type="none" w="med" len="med"/>
                      <a:tailEnd type="none" w="med" len="med"/>
                    </a:lnL>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Python</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$114,383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$101,013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R</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$92,037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Javascript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$110,981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Swift</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$130,801</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$113,865</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C#</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$88,726</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PHP</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$84,727</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a:effectLst/>
                        </a:rPr>
                        <a:t>SQL</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a:effectLst/>
                        </a:rPr>
                        <a:t>$84,793</a:t>
                      </a:r>
                      <a:endParaRPr lang="en-US" sz="120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r h="277097">
                <a:tc>
                  <a:txBody>
                    <a:bodyPr/>
                    <a:lstStyle/>
                    <a:p>
                      <a:pPr algn="l" fontAlgn="ctr"/>
                      <a:r>
                        <a:rPr lang="en-US" sz="1200" dirty="0">
                          <a:effectLst/>
                        </a:rPr>
                        <a:t>Go</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fontAlgn="ctr"/>
                      <a:r>
                        <a:rPr lang="en-US" sz="1200" dirty="0">
                          <a:effectLst/>
                        </a:rPr>
                        <a:t>$94,082</a:t>
                      </a:r>
                      <a:endParaRPr lang="en-US" sz="1200" dirty="0">
                        <a:effectLst/>
                      </a:endParaRPr>
                    </a:p>
                  </a:txBody>
                  <a:tcPr marL="24670" marR="24670" marT="24670" marB="2467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r>
            </a:tbl>
          </a:graphicData>
        </a:graphic>
      </p:graphicFrame>
      <p:pic>
        <p:nvPicPr>
          <p:cNvPr id="4" name="Content Placeholder 3"/>
          <p:cNvPicPr>
            <a:picLocks noGrp="1" noChangeAspect="1"/>
          </p:cNvPicPr>
          <p:nvPr>
            <p:ph sz="half" idx="1"/>
          </p:nvPr>
        </p:nvPicPr>
        <p:blipFill>
          <a:blip r:embed="rId1"/>
          <a:stretch>
            <a:fillRect/>
          </a:stretch>
        </p:blipFill>
        <p:spPr>
          <a:xfrm>
            <a:off x="1055857" y="1849823"/>
            <a:ext cx="3194581" cy="3194581"/>
          </a:xfrm>
          <a:prstGeom prst="rect">
            <a:avLst/>
          </a:prstGeom>
        </p:spPr>
      </p:pic>
      <p:sp>
        <p:nvSpPr>
          <p:cNvPr id="6" name="TextBox 5"/>
          <p:cNvSpPr txBox="1"/>
          <p:nvPr/>
        </p:nvSpPr>
        <p:spPr>
          <a:xfrm>
            <a:off x="4667250" y="1543050"/>
            <a:ext cx="5514975" cy="369332"/>
          </a:xfrm>
          <a:prstGeom prst="rect">
            <a:avLst/>
          </a:prstGeom>
          <a:noFill/>
        </p:spPr>
        <p:txBody>
          <a:bodyPr wrap="square" rtlCol="0">
            <a:spAutoFit/>
          </a:bodyPr>
          <a:lstStyle/>
          <a:p>
            <a:r>
              <a:rPr lang="en-US" b="0" i="0" dirty="0">
                <a:solidFill>
                  <a:srgbClr val="000000"/>
                </a:solidFill>
                <a:effectLst/>
                <a:latin typeface="Helvetica Neue"/>
              </a:rPr>
              <a:t>file named </a:t>
            </a:r>
            <a:r>
              <a:rPr lang="en-US" b="0" i="1" dirty="0">
                <a:solidFill>
                  <a:srgbClr val="000000"/>
                </a:solidFill>
                <a:effectLst/>
                <a:latin typeface="Helvetica Neue"/>
              </a:rPr>
              <a:t>popular-languages.csv</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248" y="383051"/>
            <a:ext cx="5929053" cy="1325563"/>
          </a:xfrm>
        </p:spPr>
        <p:txBody>
          <a:bodyPr anchor="ctr">
            <a:normAutofit/>
          </a:bodyPr>
          <a:lstStyle/>
          <a:p>
            <a:r>
              <a:rPr lang="en-US" dirty="0"/>
              <a:t>GITHUB JOB POSTINGS</a:t>
            </a:r>
            <a:endParaRPr lang="en-US" dirty="0"/>
          </a:p>
        </p:txBody>
      </p:sp>
      <p:sp>
        <p:nvSpPr>
          <p:cNvPr id="3" name="Content Placeholder 2"/>
          <p:cNvSpPr>
            <a:spLocks noGrp="1"/>
          </p:cNvSpPr>
          <p:nvPr>
            <p:ph sz="half" idx="2"/>
          </p:nvPr>
        </p:nvSpPr>
        <p:spPr>
          <a:xfrm>
            <a:off x="851362" y="1610472"/>
            <a:ext cx="10489276" cy="4574895"/>
          </a:xfrm>
        </p:spPr>
        <p:txBody>
          <a:bodyPr>
            <a:normAutofit/>
          </a:bodyPr>
          <a:lstStyle/>
          <a:p>
            <a:pPr marL="0" indent="0">
              <a:buNone/>
            </a:pPr>
            <a:r>
              <a:rPr lang="en-US" sz="2200" dirty="0"/>
              <a:t>In Module 1 you have collected the job postings data using GitHub API in a file named “</a:t>
            </a:r>
            <a:r>
              <a:rPr lang="en-IN" sz="2400" dirty="0" err="1"/>
              <a:t>github</a:t>
            </a:r>
            <a:r>
              <a:rPr lang="en-IN" sz="2400" dirty="0"/>
              <a:t>-job-</a:t>
            </a:r>
            <a:r>
              <a:rPr lang="en-IN" sz="2400" dirty="0" err="1"/>
              <a:t>postings.xlsx</a:t>
            </a:r>
            <a:r>
              <a:rPr lang="en-US" sz="2200" dirty="0"/>
              <a:t>”. Present that data using a bar chart here. Order the bar chart in the descending order of number of job postings.</a:t>
            </a:r>
            <a:endParaRPr lang="en-US" sz="2200" dirty="0"/>
          </a:p>
        </p:txBody>
      </p:sp>
      <p:pic>
        <p:nvPicPr>
          <p:cNvPr id="103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88659" y="2651380"/>
            <a:ext cx="5041750" cy="35914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248" y="383051"/>
            <a:ext cx="5929053" cy="1325563"/>
          </a:xfrm>
        </p:spPr>
        <p:txBody>
          <a:bodyPr anchor="ctr">
            <a:normAutofit/>
          </a:bodyPr>
          <a:lstStyle/>
          <a:p>
            <a:r>
              <a:rPr lang="en-US" dirty="0"/>
              <a:t>POPULAR LANGUAGES</a:t>
            </a:r>
            <a:endParaRPr lang="en-US" dirty="0"/>
          </a:p>
        </p:txBody>
      </p:sp>
      <p:sp>
        <p:nvSpPr>
          <p:cNvPr id="3" name="Content Placeholder 2"/>
          <p:cNvSpPr>
            <a:spLocks noGrp="1"/>
          </p:cNvSpPr>
          <p:nvPr>
            <p:ph sz="half" idx="2"/>
          </p:nvPr>
        </p:nvSpPr>
        <p:spPr>
          <a:xfrm>
            <a:off x="833314" y="1599715"/>
            <a:ext cx="10525371" cy="2862753"/>
          </a:xfrm>
        </p:spPr>
        <p:txBody>
          <a:bodyPr>
            <a:normAutofit/>
          </a:bodyPr>
          <a:lstStyle/>
          <a:p>
            <a:pPr marL="0" indent="0">
              <a:buNone/>
            </a:pPr>
            <a:r>
              <a:rPr lang="en-US" sz="2200" dirty="0"/>
              <a:t>In Module 1 you have collected the job postings data using web scraping in a file named “</a:t>
            </a:r>
            <a:r>
              <a:rPr lang="en-IN" sz="2400" dirty="0"/>
              <a:t>popular-</a:t>
            </a:r>
            <a:r>
              <a:rPr lang="en-IN" sz="2400" dirty="0" err="1"/>
              <a:t>languages.csv</a:t>
            </a:r>
            <a:r>
              <a:rPr lang="en-US" sz="2200" dirty="0"/>
              <a:t>”. Present that data using a bar chart here. Order the bar chart in the descending order of salary.</a:t>
            </a:r>
            <a:endParaRPr lang="en-US" sz="2200"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167064" y="2605640"/>
            <a:ext cx="5929053" cy="38693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LIDE_TEMPLATE_skill_netwo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IBM Plex Sans SemiBold"/>
        <a:ea typeface=""/>
        <a:cs typeface=""/>
      </a:majorFont>
      <a:minorFont>
        <a:latin typeface="IBM Plex Sans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1" ma:contentTypeDescription="Create a new document." ma:contentTypeScope="" ma:versionID="4bc1015ece1c23b1ef2f55a62f11494f">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efbf6837a43ed91190e40f849f23a13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A07C5-A406-4A0D-B3E6-3856C94AC7F3}">
  <ds:schemaRefs/>
</ds:datastoreItem>
</file>

<file path=customXml/itemProps2.xml><?xml version="1.0" encoding="utf-8"?>
<ds:datastoreItem xmlns:ds="http://schemas.openxmlformats.org/officeDocument/2006/customXml" ds:itemID="{7EFDA260-DDA0-422C-B7AE-778F653FBB36}">
  <ds:schemaRefs/>
</ds:datastoreItem>
</file>

<file path=customXml/itemProps3.xml><?xml version="1.0" encoding="utf-8"?>
<ds:datastoreItem xmlns:ds="http://schemas.openxmlformats.org/officeDocument/2006/customXml" ds:itemID="{887AE8FE-83F0-42D0-BB5E-14AD3FB1DE17}">
  <ds:schemaRefs/>
</ds:datastoreItem>
</file>

<file path=docProps/app.xml><?xml version="1.0" encoding="utf-8"?>
<Properties xmlns="http://schemas.openxmlformats.org/officeDocument/2006/extended-properties" xmlns:vt="http://schemas.openxmlformats.org/officeDocument/2006/docPropsVTypes">
  <TotalTime>0</TotalTime>
  <Words>8642</Words>
  <Application>WPS Presentation</Application>
  <PresentationFormat>Widescreen</PresentationFormat>
  <Paragraphs>491</Paragraphs>
  <Slides>27</Slides>
  <Notes>9</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27</vt:i4>
      </vt:variant>
    </vt:vector>
  </HeadingPairs>
  <TitlesOfParts>
    <vt:vector size="43" baseType="lpstr">
      <vt:lpstr>Arial</vt:lpstr>
      <vt:lpstr>SimSun</vt:lpstr>
      <vt:lpstr>Wingdings</vt:lpstr>
      <vt:lpstr>IBM Plex Mono SemiBold</vt:lpstr>
      <vt:lpstr>Yu Gothic UI Semibold</vt:lpstr>
      <vt:lpstr>Arial</vt:lpstr>
      <vt:lpstr>IBM Plex Mono Text</vt:lpstr>
      <vt:lpstr>Yu Gothic UI</vt:lpstr>
      <vt:lpstr>Helv</vt:lpstr>
      <vt:lpstr>Segoe Print</vt:lpstr>
      <vt:lpstr>Microsoft YaHei</vt:lpstr>
      <vt:lpstr>Arial Unicode MS</vt:lpstr>
      <vt:lpstr>Calibri</vt:lpstr>
      <vt:lpstr>Helvetica Neue</vt:lpstr>
      <vt:lpstr>IBM Plex Sans Text</vt:lpstr>
      <vt:lpstr>SLIDE_TEMPLATE_skill_network</vt:lpstr>
      <vt:lpstr>Emerging Trending Skills Required In IT industry In the future</vt:lpstr>
      <vt:lpstr>OUTLINE</vt:lpstr>
      <vt:lpstr>EXECUTIVE SUMMARY</vt:lpstr>
      <vt:lpstr>INTRODUCTION</vt:lpstr>
      <vt:lpstr>METHODOLOGY</vt:lpstr>
      <vt:lpstr>RESULTS</vt:lpstr>
      <vt:lpstr>PROGRAMMING LANGUAGE TRENDS</vt:lpstr>
      <vt:lpstr>PROGRAMMING LANGUAGE TRENDS - FINDINGS &amp; IMPLICATIONS</vt:lpstr>
      <vt:lpstr>DATABASE TRENDS</vt:lpstr>
      <vt:lpstr>DATABASE TRENDS - FINDINGS &amp; IMPLICATIONS</vt:lpstr>
      <vt:lpstr>IDE TRENDS</vt:lpstr>
      <vt:lpstr>IDE TRENDS - FINDINGS &amp; IMPLICATIONS</vt:lpstr>
      <vt:lpstr>DASHBOARD</vt:lpstr>
      <vt:lpstr>DASHBOARD TAB 1</vt:lpstr>
      <vt:lpstr>DASHBOARD TAB 2</vt:lpstr>
      <vt:lpstr>DASHBOARD TAB 3</vt:lpstr>
      <vt:lpstr>DISCUSSION</vt:lpstr>
      <vt:lpstr>OVERALL FINDINGS &amp; IMPLICATIONS</vt:lpstr>
      <vt:lpstr>Additional FINDINGS &amp; IMPLICATIONS</vt:lpstr>
      <vt:lpstr>CONCLUSION</vt:lpstr>
      <vt:lpstr>APPENDIX</vt:lpstr>
      <vt:lpstr>APPENDIX</vt:lpstr>
      <vt:lpstr>APPENDIX</vt:lpstr>
      <vt:lpstr>APPENDIX</vt:lpstr>
      <vt:lpstr>APPENDIX</vt:lpstr>
      <vt:lpstr>GITHUB JOB POSTINGS</vt:lpstr>
      <vt:lpstr>POPULAR LANGUAGES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 TRENDS</dc:title>
  <dc:creator>Steve Hord</dc:creator>
  <cp:lastModifiedBy>Umer Hameed</cp:lastModifiedBy>
  <cp:revision>64</cp:revision>
  <dcterms:created xsi:type="dcterms:W3CDTF">2020-10-28T18:29:00Z</dcterms:created>
  <dcterms:modified xsi:type="dcterms:W3CDTF">2026-08-26T14:53:47Z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5EB60E63128A4A218862D8E1E4EB593C_12</vt:lpwstr>
  </property>
  <property fmtid="{D5CDD505-2E9C-101B-9397-08002B2CF9AE}" pid="3" name="KSOProductBuildVer">
    <vt:lpwstr>1033-12.1.0.28485</vt:lpwstr>
  </property>
</Properties>
</file>